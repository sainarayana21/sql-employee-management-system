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4.jpg" ContentType="image/jpeg"/>
  <Override PartName="/ppt/media/image5.jpg" ContentType="image/jpeg"/>
  <Override PartName="/ppt/media/image6.jpg" ContentType="image/jpeg"/>
  <Override PartName="/ppt/media/image7.jpg" ContentType="image/jpeg"/>
  <Override PartName="/ppt/media/image8.jpg" ContentType="image/jpeg"/>
  <Override PartName="/ppt/media/image11.jpg" ContentType="image/jpeg"/>
  <Override PartName="/ppt/media/image14.jpg" ContentType="image/jpeg"/>
  <Override PartName="/ppt/media/image16.jpg" ContentType="image/jpeg"/>
  <Override PartName="/ppt/media/image18.jpg" ContentType="image/jpeg"/>
  <Override PartName="/ppt/media/image20.jpg" ContentType="image/jpeg"/>
  <Override PartName="/ppt/media/image22.jpg" ContentType="image/jpeg"/>
  <Override PartName="/ppt/media/image24.jpg" ContentType="image/jpeg"/>
  <Override PartName="/ppt/media/image26.jpg" ContentType="image/jpeg"/>
  <Override PartName="/ppt/media/image28.jpg" ContentType="image/jpeg"/>
  <Override PartName="/ppt/media/image30.jpg" ContentType="image/jpeg"/>
  <Override PartName="/ppt/media/image32.jpg" ContentType="image/jpeg"/>
  <Override PartName="/ppt/media/image34.jpg" ContentType="image/jpeg"/>
  <Override PartName="/ppt/media/image36.jpg" ContentType="image/jpeg"/>
  <Override PartName="/ppt/media/image38.jpg" ContentType="image/jpeg"/>
  <Override PartName="/ppt/media/image40.jpg" ContentType="image/jpeg"/>
  <Override PartName="/ppt/media/image42.jpg" ContentType="image/jpeg"/>
  <Override PartName="/ppt/media/image44.jpg" ContentType="image/jpeg"/>
  <Override PartName="/ppt/media/image46.jpg" ContentType="image/jpeg"/>
  <Override PartName="/ppt/media/image48.jpg" ContentType="image/jpeg"/>
  <Override PartName="/ppt/media/image51.jpg" ContentType="image/jpeg"/>
  <Override PartName="/ppt/media/image54.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sldIdLst>
    <p:sldId id="256" r:id="rId2"/>
    <p:sldId id="289" r:id="rId3"/>
    <p:sldId id="258" r:id="rId4"/>
    <p:sldId id="259" r:id="rId5"/>
    <p:sldId id="260" r:id="rId6"/>
    <p:sldId id="261" r:id="rId7"/>
    <p:sldId id="262" r:id="rId8"/>
    <p:sldId id="263" r:id="rId9"/>
    <p:sldId id="290"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91" r:id="rId3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8" d="100"/>
          <a:sy n="38" d="100"/>
        </p:scale>
        <p:origin x="102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2904" y="1683545"/>
            <a:ext cx="13502193" cy="3581400"/>
          </a:xfrm>
        </p:spPr>
        <p:txBody>
          <a:bodyPr anchor="b">
            <a:normAutofit/>
          </a:bodyPr>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392904" y="5403057"/>
            <a:ext cx="13502193"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62644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71673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43866" y="985840"/>
            <a:ext cx="14600268" cy="4279106"/>
          </a:xfrm>
        </p:spPr>
        <p:txBody>
          <a:bodyPr anchor="b">
            <a:normAutofit/>
          </a:bodyPr>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1843866" y="5403058"/>
            <a:ext cx="14600268" cy="2250281"/>
          </a:xfrm>
        </p:spPr>
        <p:txBody>
          <a:bodyPr/>
          <a:lstStyle>
            <a:lvl1pPr marL="0" indent="0" algn="ctr">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44866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693" y="914401"/>
            <a:ext cx="15530642" cy="198948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70693" y="3132479"/>
            <a:ext cx="7659006" cy="55543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60105" y="3132479"/>
            <a:ext cx="7641231" cy="55543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38741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0693" y="914401"/>
            <a:ext cx="15530642"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12707" y="3132480"/>
            <a:ext cx="7318799" cy="1235868"/>
          </a:xfrm>
        </p:spPr>
        <p:txBody>
          <a:bodyPr anchor="b"/>
          <a:lstStyle>
            <a:lvl1pPr marL="0" indent="0">
              <a:lnSpc>
                <a:spcPct val="100000"/>
              </a:lnSpc>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370693" y="4368348"/>
            <a:ext cx="7660812" cy="4318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03005" y="3132480"/>
            <a:ext cx="7298331" cy="1235868"/>
          </a:xfrm>
        </p:spPr>
        <p:txBody>
          <a:bodyPr anchor="b"/>
          <a:lstStyle>
            <a:lvl1pPr marL="0" indent="0">
              <a:lnSpc>
                <a:spcPct val="100000"/>
              </a:lnSpc>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4368348"/>
            <a:ext cx="7643036" cy="4318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6236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75438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33626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5843" y="914400"/>
            <a:ext cx="5898356" cy="3543300"/>
          </a:xfrm>
        </p:spPr>
        <p:txBody>
          <a:bodyPr anchor="b">
            <a:normAutofit/>
          </a:bodyPr>
          <a:lstStyle>
            <a:lvl1pPr>
              <a:defRPr sz="4200"/>
            </a:lvl1pPr>
          </a:lstStyle>
          <a:p>
            <a:r>
              <a:rPr lang="en-US"/>
              <a:t>Click to edit Master title style</a:t>
            </a:r>
            <a:endParaRPr lang="en-US" dirty="0"/>
          </a:p>
        </p:txBody>
      </p:sp>
      <p:sp>
        <p:nvSpPr>
          <p:cNvPr id="3" name="Content Placeholder 2"/>
          <p:cNvSpPr>
            <a:spLocks noGrp="1"/>
          </p:cNvSpPr>
          <p:nvPr>
            <p:ph idx="1"/>
          </p:nvPr>
        </p:nvSpPr>
        <p:spPr>
          <a:xfrm>
            <a:off x="7617096" y="914400"/>
            <a:ext cx="9284238" cy="77724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5843" y="4457700"/>
            <a:ext cx="5898356" cy="4229099"/>
          </a:xfrm>
        </p:spPr>
        <p:txBody>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75645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5841" y="914400"/>
            <a:ext cx="8894660" cy="3543300"/>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137206" y="1138322"/>
            <a:ext cx="4883034" cy="7324557"/>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0691" y="4457700"/>
            <a:ext cx="8902425" cy="4229100"/>
          </a:xfrm>
        </p:spPr>
        <p:txBody>
          <a:bodyPr>
            <a:normAutofit/>
          </a:bodyPr>
          <a:lstStyle>
            <a:lvl1pPr marL="0" indent="0" algn="ctr">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11103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0709" y="6434059"/>
            <a:ext cx="15551346" cy="1229033"/>
          </a:xfrm>
        </p:spPr>
        <p:txBody>
          <a:bodyPr anchor="b">
            <a:normAutofit/>
          </a:bodyPr>
          <a:lstStyle>
            <a:lvl1pPr>
              <a:defRPr sz="4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0709" y="931982"/>
            <a:ext cx="15551346" cy="5069603"/>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0693" y="7663092"/>
            <a:ext cx="15548997" cy="1023708"/>
          </a:xfrm>
        </p:spPr>
        <p:txBody>
          <a:bodyPr>
            <a:normAutofit/>
          </a:bodyPr>
          <a:lstStyle>
            <a:lvl1pPr marL="0" indent="0" algn="ctr">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52279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70693" y="914401"/>
            <a:ext cx="15530643" cy="5137289"/>
          </a:xfrm>
        </p:spPr>
        <p:txBody>
          <a:bodyPr anchor="ctr"/>
          <a:lstStyle>
            <a:lvl1pP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1370693" y="6307230"/>
            <a:ext cx="15530642" cy="2388279"/>
          </a:xfrm>
        </p:spPr>
        <p:txBody>
          <a:bodyPr anchor="ct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87399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18" y="914400"/>
            <a:ext cx="13954128" cy="4489356"/>
          </a:xfrm>
        </p:spPr>
        <p:txBody>
          <a:bodyPr anchor="ctr"/>
          <a:lstStyle>
            <a:lvl1pP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2580967" y="5415048"/>
            <a:ext cx="13128449" cy="640218"/>
          </a:xfrm>
        </p:spPr>
        <p:txBody>
          <a:bodyPr anchor="t">
            <a:normAutofit/>
          </a:bodyPr>
          <a:lstStyle>
            <a:lvl1pPr marL="0" indent="0" algn="r">
              <a:buNone/>
              <a:defRPr sz="21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4" name="Text Placeholder 3"/>
          <p:cNvSpPr>
            <a:spLocks noGrp="1"/>
          </p:cNvSpPr>
          <p:nvPr>
            <p:ph type="body" sz="half" idx="2"/>
          </p:nvPr>
        </p:nvSpPr>
        <p:spPr>
          <a:xfrm>
            <a:off x="1370691" y="6307232"/>
            <a:ext cx="15530643" cy="2379570"/>
          </a:xfrm>
        </p:spPr>
        <p:txBody>
          <a:bodyPr anchor="ctr">
            <a:normAutofit/>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11" name="TextBox 10"/>
          <p:cNvSpPr txBox="1"/>
          <p:nvPr/>
        </p:nvSpPr>
        <p:spPr>
          <a:xfrm>
            <a:off x="1254918" y="1102862"/>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3" name="TextBox 12"/>
          <p:cNvSpPr txBox="1"/>
          <p:nvPr/>
        </p:nvSpPr>
        <p:spPr>
          <a:xfrm>
            <a:off x="15986934" y="4458140"/>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3274455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70710" y="3190414"/>
            <a:ext cx="15532991" cy="3767753"/>
          </a:xfrm>
        </p:spPr>
        <p:txBody>
          <a:bodyPr anchor="b"/>
          <a:lstStyle>
            <a:lvl1pP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1370692" y="6975834"/>
            <a:ext cx="15530645" cy="1710966"/>
          </a:xfrm>
        </p:spPr>
        <p:txBody>
          <a:bodyPr anchor="t"/>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21035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370691" y="914401"/>
            <a:ext cx="15530643" cy="1988345"/>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70691" y="3132479"/>
            <a:ext cx="4948434" cy="1234958"/>
          </a:xfrm>
        </p:spPr>
        <p:txBody>
          <a:bodyPr anchor="b">
            <a:noAutofit/>
          </a:bodyPr>
          <a:lstStyle>
            <a:lvl1pPr marL="0" indent="0" algn="ctr">
              <a:lnSpc>
                <a:spcPct val="100000"/>
              </a:lnSpc>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Text Placeholder 3"/>
          <p:cNvSpPr>
            <a:spLocks noGrp="1"/>
          </p:cNvSpPr>
          <p:nvPr>
            <p:ph type="body" sz="half" idx="15"/>
          </p:nvPr>
        </p:nvSpPr>
        <p:spPr>
          <a:xfrm>
            <a:off x="1370691" y="4367436"/>
            <a:ext cx="4948434" cy="4319364"/>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9" name="Text Placeholder 4"/>
          <p:cNvSpPr>
            <a:spLocks noGrp="1"/>
          </p:cNvSpPr>
          <p:nvPr>
            <p:ph type="body" sz="quarter" idx="3"/>
          </p:nvPr>
        </p:nvSpPr>
        <p:spPr>
          <a:xfrm>
            <a:off x="6667317" y="3132480"/>
            <a:ext cx="4947837" cy="1234956"/>
          </a:xfrm>
        </p:spPr>
        <p:txBody>
          <a:bodyPr anchor="b">
            <a:noAutofit/>
          </a:bodyPr>
          <a:lstStyle>
            <a:lvl1pPr marL="0" indent="0" algn="ctr">
              <a:lnSpc>
                <a:spcPct val="100000"/>
              </a:lnSpc>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0" name="Text Placeholder 3"/>
          <p:cNvSpPr>
            <a:spLocks noGrp="1"/>
          </p:cNvSpPr>
          <p:nvPr>
            <p:ph type="body" sz="half" idx="16"/>
          </p:nvPr>
        </p:nvSpPr>
        <p:spPr>
          <a:xfrm>
            <a:off x="6667318" y="4367436"/>
            <a:ext cx="4949732" cy="4319364"/>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1" name="Text Placeholder 4"/>
          <p:cNvSpPr>
            <a:spLocks noGrp="1"/>
          </p:cNvSpPr>
          <p:nvPr>
            <p:ph type="body" sz="quarter" idx="13"/>
          </p:nvPr>
        </p:nvSpPr>
        <p:spPr>
          <a:xfrm>
            <a:off x="11959948" y="3132480"/>
            <a:ext cx="4936817" cy="1234956"/>
          </a:xfrm>
        </p:spPr>
        <p:txBody>
          <a:bodyPr anchor="b">
            <a:noAutofit/>
          </a:bodyPr>
          <a:lstStyle>
            <a:lvl1pPr marL="0" indent="0" algn="ctr">
              <a:lnSpc>
                <a:spcPct val="100000"/>
              </a:lnSpc>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Text Placeholder 3"/>
          <p:cNvSpPr>
            <a:spLocks noGrp="1"/>
          </p:cNvSpPr>
          <p:nvPr>
            <p:ph type="body" sz="half" idx="17"/>
          </p:nvPr>
        </p:nvSpPr>
        <p:spPr>
          <a:xfrm>
            <a:off x="11964520" y="4367436"/>
            <a:ext cx="4936817" cy="4319364"/>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70678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370693" y="914401"/>
            <a:ext cx="15530643" cy="1988345"/>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70693" y="6293849"/>
            <a:ext cx="4948433" cy="864393"/>
          </a:xfrm>
        </p:spPr>
        <p:txBody>
          <a:bodyPr anchor="b">
            <a:noAutofit/>
          </a:bodyPr>
          <a:lstStyle>
            <a:lvl1pPr marL="0" indent="0" algn="ctr">
              <a:lnSpc>
                <a:spcPct val="100000"/>
              </a:lnSpc>
              <a:buNone/>
              <a:defRPr sz="30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Picture Placeholder 2"/>
          <p:cNvSpPr>
            <a:spLocks noGrp="1" noChangeAspect="1"/>
          </p:cNvSpPr>
          <p:nvPr>
            <p:ph type="pic" idx="15"/>
          </p:nvPr>
        </p:nvSpPr>
        <p:spPr>
          <a:xfrm>
            <a:off x="1638030" y="3448481"/>
            <a:ext cx="4410075" cy="2286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1" name="Text Placeholder 3"/>
          <p:cNvSpPr>
            <a:spLocks noGrp="1"/>
          </p:cNvSpPr>
          <p:nvPr>
            <p:ph type="body" sz="half" idx="18"/>
          </p:nvPr>
        </p:nvSpPr>
        <p:spPr>
          <a:xfrm>
            <a:off x="1370693" y="7158242"/>
            <a:ext cx="4948433" cy="1528557"/>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2" name="Text Placeholder 4"/>
          <p:cNvSpPr>
            <a:spLocks noGrp="1"/>
          </p:cNvSpPr>
          <p:nvPr>
            <p:ph type="body" sz="quarter" idx="3"/>
          </p:nvPr>
        </p:nvSpPr>
        <p:spPr>
          <a:xfrm>
            <a:off x="6664052" y="6293849"/>
            <a:ext cx="4948475" cy="864393"/>
          </a:xfrm>
        </p:spPr>
        <p:txBody>
          <a:bodyPr anchor="b">
            <a:noAutofit/>
          </a:bodyPr>
          <a:lstStyle>
            <a:lvl1pPr marL="0" indent="0" algn="ctr">
              <a:lnSpc>
                <a:spcPct val="100000"/>
              </a:lnSpc>
              <a:buNone/>
              <a:defRPr sz="30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3" name="Picture Placeholder 2"/>
          <p:cNvSpPr>
            <a:spLocks noGrp="1" noChangeAspect="1"/>
          </p:cNvSpPr>
          <p:nvPr>
            <p:ph type="pic" idx="21"/>
          </p:nvPr>
        </p:nvSpPr>
        <p:spPr>
          <a:xfrm>
            <a:off x="6853495" y="3448481"/>
            <a:ext cx="4395788" cy="2286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19"/>
          </p:nvPr>
        </p:nvSpPr>
        <p:spPr>
          <a:xfrm>
            <a:off x="6662022" y="7158240"/>
            <a:ext cx="4950504" cy="1528557"/>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5" name="Text Placeholder 4"/>
          <p:cNvSpPr>
            <a:spLocks noGrp="1"/>
          </p:cNvSpPr>
          <p:nvPr>
            <p:ph type="body" sz="quarter" idx="13"/>
          </p:nvPr>
        </p:nvSpPr>
        <p:spPr>
          <a:xfrm>
            <a:off x="11960135" y="6293849"/>
            <a:ext cx="4934850" cy="864393"/>
          </a:xfrm>
        </p:spPr>
        <p:txBody>
          <a:bodyPr anchor="b">
            <a:noAutofit/>
          </a:bodyPr>
          <a:lstStyle>
            <a:lvl1pPr marL="0" indent="0" algn="ctr">
              <a:lnSpc>
                <a:spcPct val="100000"/>
              </a:lnSpc>
              <a:buNone/>
              <a:defRPr sz="30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6" name="Picture Placeholder 2"/>
          <p:cNvSpPr>
            <a:spLocks noGrp="1" noChangeAspect="1"/>
          </p:cNvSpPr>
          <p:nvPr>
            <p:ph type="pic" idx="22"/>
          </p:nvPr>
        </p:nvSpPr>
        <p:spPr>
          <a:xfrm>
            <a:off x="12229205" y="3448481"/>
            <a:ext cx="4398170" cy="2286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7" name="Text Placeholder 3"/>
          <p:cNvSpPr>
            <a:spLocks noGrp="1"/>
          </p:cNvSpPr>
          <p:nvPr>
            <p:ph type="body" sz="half" idx="20"/>
          </p:nvPr>
        </p:nvSpPr>
        <p:spPr>
          <a:xfrm>
            <a:off x="11959947" y="7158242"/>
            <a:ext cx="4941387" cy="1528556"/>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32338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54941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1" y="914399"/>
            <a:ext cx="3813986" cy="7772402"/>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70692" y="914399"/>
            <a:ext cx="11488058" cy="77724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13705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0693" y="914401"/>
            <a:ext cx="15530642" cy="198948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70693" y="3144096"/>
            <a:ext cx="15530643" cy="55427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518104" y="8824913"/>
            <a:ext cx="4114800" cy="547688"/>
          </a:xfrm>
          <a:prstGeom prst="rect">
            <a:avLst/>
          </a:prstGeom>
        </p:spPr>
        <p:txBody>
          <a:bodyPr vert="horz" lIns="91440" tIns="45720" rIns="91440" bIns="45720" rtlCol="0" anchor="ctr"/>
          <a:lstStyle>
            <a:lvl1pPr algn="r">
              <a:defRPr sz="1500">
                <a:solidFill>
                  <a:schemeClr val="tx1">
                    <a:tint val="75000"/>
                  </a:schemeClr>
                </a:solidFill>
              </a:defRPr>
            </a:lvl1pPr>
          </a:lstStyle>
          <a:p>
            <a:fld id="{1D8BD707-D9CF-40AE-B4C6-C98DA3205C09}" type="datetimeFigureOut">
              <a:rPr lang="en-US" smtClean="0"/>
              <a:t>9/30/2025</a:t>
            </a:fld>
            <a:endParaRPr lang="en-US"/>
          </a:p>
        </p:txBody>
      </p:sp>
      <p:sp>
        <p:nvSpPr>
          <p:cNvPr id="5" name="Footer Placeholder 4"/>
          <p:cNvSpPr>
            <a:spLocks noGrp="1"/>
          </p:cNvSpPr>
          <p:nvPr>
            <p:ph type="ftr" sz="quarter" idx="3"/>
          </p:nvPr>
        </p:nvSpPr>
        <p:spPr>
          <a:xfrm>
            <a:off x="1370692" y="8824913"/>
            <a:ext cx="10009298" cy="547688"/>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771017" y="8824913"/>
            <a:ext cx="1130318" cy="547688"/>
          </a:xfrm>
          <a:prstGeom prst="rect">
            <a:avLst/>
          </a:prstGeom>
        </p:spPr>
        <p:txBody>
          <a:bodyPr vert="horz" lIns="91440" tIns="45720" rIns="91440" bIns="45720" rtlCol="0" anchor="ctr"/>
          <a:lstStyle>
            <a:lvl1pPr algn="r">
              <a:defRPr sz="15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63154552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1371600" rtl="0" eaLnBrk="1" latinLnBrk="0" hangingPunct="1">
        <a:lnSpc>
          <a:spcPct val="90000"/>
        </a:lnSpc>
        <a:spcBef>
          <a:spcPct val="0"/>
        </a:spcBef>
        <a:buNone/>
        <a:defRPr sz="51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342900" indent="-342900" algn="l" defTabSz="1371600" rtl="0" eaLnBrk="1" latinLnBrk="0" hangingPunct="1">
        <a:lnSpc>
          <a:spcPct val="120000"/>
        </a:lnSpc>
        <a:spcBef>
          <a:spcPts val="1500"/>
        </a:spcBef>
        <a:buFont typeface="Arial" panose="020B0604020202020204" pitchFamily="34" charset="0"/>
        <a:buChar char="•"/>
        <a:defRPr sz="3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1028700" indent="-342900" algn="l" defTabSz="1371600" rtl="0" eaLnBrk="1" latinLnBrk="0" hangingPunct="1">
        <a:lnSpc>
          <a:spcPct val="120000"/>
        </a:lnSpc>
        <a:spcBef>
          <a:spcPts val="750"/>
        </a:spcBef>
        <a:buFont typeface="Arial" panose="020B0604020202020204" pitchFamily="34" charset="0"/>
        <a:buChar char="•"/>
        <a:defRPr sz="27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714500" indent="-342900" algn="l" defTabSz="1371600" rtl="0" eaLnBrk="1" latinLnBrk="0" hangingPunct="1">
        <a:lnSpc>
          <a:spcPct val="120000"/>
        </a:lnSpc>
        <a:spcBef>
          <a:spcPts val="750"/>
        </a:spcBef>
        <a:buFont typeface="Arial" panose="020B0604020202020204" pitchFamily="34" charset="0"/>
        <a:buChar char="•"/>
        <a:defRPr sz="2400" kern="1200">
          <a:solidFill>
            <a:schemeClr val="tx1"/>
          </a:solidFill>
          <a:effectLst>
            <a:outerShdw blurRad="50800" dist="38100" dir="2700000" algn="tl" rotWithShape="0">
              <a:srgbClr val="000000">
                <a:alpha val="48000"/>
              </a:srgbClr>
            </a:outerShdw>
          </a:effectLst>
          <a:latin typeface="+mn-lt"/>
          <a:ea typeface="+mn-ea"/>
          <a:cs typeface="+mn-cs"/>
        </a:defRPr>
      </a:lvl3pPr>
      <a:lvl4pPr marL="2400300" indent="-342900" algn="l" defTabSz="1371600" rtl="0" eaLnBrk="1" latinLnBrk="0" hangingPunct="1">
        <a:lnSpc>
          <a:spcPct val="120000"/>
        </a:lnSpc>
        <a:spcBef>
          <a:spcPts val="750"/>
        </a:spcBef>
        <a:buFont typeface="Arial" panose="020B0604020202020204" pitchFamily="34" charset="0"/>
        <a:buChar char="•"/>
        <a:defRPr sz="2100" kern="1200">
          <a:solidFill>
            <a:schemeClr val="tx1"/>
          </a:solidFill>
          <a:effectLst>
            <a:outerShdw blurRad="50800" dist="38100" dir="2700000" algn="tl" rotWithShape="0">
              <a:srgbClr val="000000">
                <a:alpha val="48000"/>
              </a:srgbClr>
            </a:outerShdw>
          </a:effectLst>
          <a:latin typeface="+mn-lt"/>
          <a:ea typeface="+mn-ea"/>
          <a:cs typeface="+mn-cs"/>
        </a:defRPr>
      </a:lvl4pPr>
      <a:lvl5pPr marL="3086100" indent="-342900" algn="l" defTabSz="1371600" rtl="0" eaLnBrk="1" latinLnBrk="0" hangingPunct="1">
        <a:lnSpc>
          <a:spcPct val="120000"/>
        </a:lnSpc>
        <a:spcBef>
          <a:spcPts val="75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5pPr>
      <a:lvl6pPr marL="3771900" indent="-342900" algn="l" defTabSz="1371600" rtl="0" eaLnBrk="1" latinLnBrk="0" hangingPunct="1">
        <a:lnSpc>
          <a:spcPct val="120000"/>
        </a:lnSpc>
        <a:spcBef>
          <a:spcPts val="75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6pPr>
      <a:lvl7pPr marL="4457700" indent="-342900" algn="l" defTabSz="1371600" rtl="0" eaLnBrk="1" latinLnBrk="0" hangingPunct="1">
        <a:lnSpc>
          <a:spcPct val="120000"/>
        </a:lnSpc>
        <a:spcBef>
          <a:spcPts val="75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7pPr>
      <a:lvl8pPr marL="5143500" indent="-342900" algn="l" defTabSz="1371600" rtl="0" eaLnBrk="1" latinLnBrk="0" hangingPunct="1">
        <a:lnSpc>
          <a:spcPct val="120000"/>
        </a:lnSpc>
        <a:spcBef>
          <a:spcPts val="75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8pPr>
      <a:lvl9pPr marL="5829300" indent="-342900" algn="l" defTabSz="1371600" rtl="0" eaLnBrk="1" latinLnBrk="0" hangingPunct="1">
        <a:lnSpc>
          <a:spcPct val="120000"/>
        </a:lnSpc>
        <a:spcBef>
          <a:spcPts val="75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2.jp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6.jp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8.jp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30.jp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34.jp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36.jp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38.jp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0.jp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2.jp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4.jp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6.jp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8.jp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 Id="rId4" Type="http://schemas.openxmlformats.org/officeDocument/2006/relationships/image" Target="../media/image51.jp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 Id="rId4" Type="http://schemas.openxmlformats.org/officeDocument/2006/relationships/image" Target="../media/image5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98867"/>
          </a:xfrm>
          <a:prstGeom prst="rect">
            <a:avLst/>
          </a:prstGeom>
        </p:spPr>
      </p:pic>
      <p:sp>
        <p:nvSpPr>
          <p:cNvPr id="3" name="object 3"/>
          <p:cNvSpPr txBox="1">
            <a:spLocks noGrp="1"/>
          </p:cNvSpPr>
          <p:nvPr>
            <p:ph type="title"/>
          </p:nvPr>
        </p:nvSpPr>
        <p:spPr>
          <a:xfrm>
            <a:off x="4038600" y="5534058"/>
            <a:ext cx="9753600" cy="1695336"/>
          </a:xfrm>
          <a:prstGeom prst="rect">
            <a:avLst/>
          </a:prstGeom>
        </p:spPr>
        <p:txBody>
          <a:bodyPr vert="horz" wrap="square" lIns="0" tIns="27940" rIns="0" bIns="0" rtlCol="0">
            <a:spAutoFit/>
          </a:bodyPr>
          <a:lstStyle/>
          <a:p>
            <a:pPr marL="333375" marR="5080" indent="-321310">
              <a:lnSpc>
                <a:spcPts val="6459"/>
              </a:lnSpc>
              <a:spcBef>
                <a:spcPts val="220"/>
              </a:spcBef>
              <a:tabLst>
                <a:tab pos="2784475" algn="l"/>
              </a:tabLst>
            </a:pPr>
            <a:r>
              <a:rPr lang="en-US" sz="4500" dirty="0">
                <a:solidFill>
                  <a:schemeClr val="bg1">
                    <a:lumMod val="95000"/>
                    <a:lumOff val="5000"/>
                  </a:schemeClr>
                </a:solidFill>
                <a:effectLst/>
                <a:latin typeface="Times New Roman" panose="02020603050405020304" pitchFamily="18" charset="0"/>
                <a:cs typeface="Times New Roman" panose="02020603050405020304" pitchFamily="18" charset="0"/>
              </a:rPr>
              <a:t>Employee management system</a:t>
            </a:r>
            <a:endParaRPr sz="4500" dirty="0">
              <a:solidFill>
                <a:schemeClr val="bg1">
                  <a:lumMod val="95000"/>
                  <a:lumOff val="5000"/>
                </a:schemeClr>
              </a:solidFill>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13182600" y="7039153"/>
            <a:ext cx="4191000" cy="338554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PRESENTED BY :</a:t>
            </a:r>
          </a:p>
          <a:p>
            <a:endParaRPr lang="en-US" sz="2800" b="1" dirty="0">
              <a:latin typeface="Times New Roman" panose="02020603050405020304" pitchFamily="18" charset="0"/>
              <a:cs typeface="Times New Roman" panose="02020603050405020304" pitchFamily="18" charset="0"/>
            </a:endParaRPr>
          </a:p>
          <a:p>
            <a:r>
              <a:rPr lang="en-US" sz="2800" b="1" dirty="0" err="1">
                <a:latin typeface="Times New Roman" panose="02020603050405020304" pitchFamily="18" charset="0"/>
                <a:cs typeface="Times New Roman" panose="02020603050405020304" pitchFamily="18" charset="0"/>
              </a:rPr>
              <a:t>C.Dasaratha</a:t>
            </a:r>
            <a:r>
              <a:rPr lang="en-US" sz="2800" b="1" dirty="0">
                <a:latin typeface="Times New Roman" panose="02020603050405020304" pitchFamily="18" charset="0"/>
                <a:cs typeface="Times New Roman" panose="02020603050405020304" pitchFamily="18" charset="0"/>
              </a:rPr>
              <a:t> Rami Reddy</a:t>
            </a:r>
          </a:p>
          <a:p>
            <a:endParaRPr lang="en-US" sz="2800" b="1" dirty="0">
              <a:latin typeface="Times New Roman" panose="02020603050405020304" pitchFamily="18" charset="0"/>
              <a:cs typeface="Times New Roman" panose="02020603050405020304" pitchFamily="18" charset="0"/>
            </a:endParaRPr>
          </a:p>
          <a:p>
            <a:r>
              <a:rPr lang="en-US" sz="2800" b="1" dirty="0" err="1">
                <a:latin typeface="Times New Roman" panose="02020603050405020304" pitchFamily="18" charset="0"/>
                <a:cs typeface="Times New Roman" panose="02020603050405020304" pitchFamily="18" charset="0"/>
              </a:rPr>
              <a:t>Ch.Sushruth</a:t>
            </a:r>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err="1">
                <a:latin typeface="Times New Roman" panose="02020603050405020304" pitchFamily="18" charset="0"/>
                <a:cs typeface="Times New Roman" panose="02020603050405020304" pitchFamily="18" charset="0"/>
              </a:rPr>
              <a:t>B.Uday</a:t>
            </a:r>
            <a:r>
              <a:rPr lang="en-US" sz="2800" b="1" dirty="0">
                <a:latin typeface="Times New Roman" panose="02020603050405020304" pitchFamily="18" charset="0"/>
                <a:cs typeface="Times New Roman" panose="02020603050405020304" pitchFamily="18" charset="0"/>
              </a:rPr>
              <a:t> Yadav</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409700"/>
            <a:ext cx="13396135" cy="7200900"/>
          </a:xfrm>
        </p:spPr>
        <p:txBody>
          <a:bodyPr>
            <a:normAutofit/>
          </a:bodyPr>
          <a:lstStyle/>
          <a:p>
            <a:r>
              <a:rPr lang="en-US" sz="8000" dirty="0">
                <a:effectLst>
                  <a:outerShdw blurRad="38100" dist="38100" dir="2700000" algn="tl">
                    <a:srgbClr val="000000">
                      <a:alpha val="43137"/>
                    </a:srgbClr>
                  </a:outerShdw>
                </a:effectLst>
                <a:latin typeface="Algerian" panose="04020705040A02060702" pitchFamily="82" charset="0"/>
              </a:rPr>
              <a:t>Employee Management System</a:t>
            </a:r>
          </a:p>
        </p:txBody>
      </p:sp>
    </p:spTree>
    <p:extLst>
      <p:ext uri="{BB962C8B-B14F-4D97-AF65-F5344CB8AC3E}">
        <p14:creationId xmlns:p14="http://schemas.microsoft.com/office/powerpoint/2010/main" val="377958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52400" y="1028700"/>
            <a:ext cx="12192907" cy="1521250"/>
          </a:xfrm>
          <a:prstGeom prst="rect">
            <a:avLst/>
          </a:prstGeom>
        </p:spPr>
        <p:txBody>
          <a:bodyPr vert="horz" wrap="square" lIns="0" tIns="515938" rIns="0" bIns="0" rtlCol="0">
            <a:spAutoFit/>
          </a:bodyPr>
          <a:lstStyle/>
          <a:p>
            <a:pPr marL="4780915">
              <a:lnSpc>
                <a:spcPct val="100000"/>
              </a:lnSpc>
              <a:spcBef>
                <a:spcPts val="105"/>
              </a:spcBef>
            </a:pPr>
            <a:r>
              <a:rPr sz="6500" spc="-10" dirty="0">
                <a:latin typeface="Times New Roman" panose="02020603050405020304" pitchFamily="18" charset="0"/>
                <a:cs typeface="Times New Roman" panose="02020603050405020304" pitchFamily="18" charset="0"/>
              </a:rPr>
              <a:t>Introduction</a:t>
            </a:r>
            <a:endParaRPr sz="65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idx="1"/>
          </p:nvPr>
        </p:nvSpPr>
        <p:spPr>
          <a:xfrm>
            <a:off x="685800" y="2933700"/>
            <a:ext cx="16460107" cy="6610849"/>
          </a:xfrm>
          <a:prstGeom prst="rect">
            <a:avLst/>
          </a:prstGeom>
        </p:spPr>
        <p:txBody>
          <a:bodyPr vert="horz" wrap="square" lIns="0" tIns="11430" rIns="0" bIns="0" rtlCol="0">
            <a:spAutoFit/>
          </a:bodyPr>
          <a:lstStyle/>
          <a:p>
            <a:pPr marL="12065" marR="9525" indent="0">
              <a:lnSpc>
                <a:spcPct val="119500"/>
              </a:lnSpc>
              <a:spcBef>
                <a:spcPts val="90"/>
              </a:spcBef>
              <a:buNone/>
              <a:tabLst>
                <a:tab pos="379730" algn="l"/>
                <a:tab pos="1250315" algn="l"/>
                <a:tab pos="2449830" algn="l"/>
                <a:tab pos="3328035" algn="l"/>
                <a:tab pos="4934585" algn="l"/>
                <a:tab pos="6482715" algn="l"/>
                <a:tab pos="8140700" algn="l"/>
                <a:tab pos="9863455" algn="l"/>
                <a:tab pos="12406630" algn="l"/>
                <a:tab pos="12982575" algn="l"/>
                <a:tab pos="14940280" algn="l"/>
              </a:tabLst>
            </a:pPr>
            <a:r>
              <a:rPr lang="en-US" spc="-25" dirty="0"/>
              <a:t>The Employee Management System is a database-driven application designed to simplify and streamline human resource (HR) operations within an organization. Managing employee details manually is often time-consuming, error-prone, and inefficient. This project aims to overcome these challenges by creating a centralized system that stores, manages, and updates employee-related information effectively .  The system maintains comprehensive records of employees, including their personal details, job roles, qualifications, salary structures, leave records, and payroll data. By organizing this information into relational tables with proper links (foreign keys), the system ensures data accuracy, integrity, and consistency across all </a:t>
            </a:r>
            <a:r>
              <a:rPr lang="en-US" spc="-25" dirty="0" err="1"/>
              <a:t>modules.With</a:t>
            </a:r>
            <a:r>
              <a:rPr lang="en-US" spc="-25" dirty="0"/>
              <a:t> features like payroll calculation, leave tracking, and department-wise role management, the Employee Management System provides quick access to vital information and supports better decision-making. Ultimately, the project helps organizations save time, reduce errors, and improve overall HR efficiency.</a:t>
            </a:r>
            <a:endParaRPr spc="-10" dirty="0"/>
          </a:p>
        </p:txBody>
      </p:sp>
      <p:pic>
        <p:nvPicPr>
          <p:cNvPr id="5" name="object 5"/>
          <p:cNvPicPr/>
          <p:nvPr/>
        </p:nvPicPr>
        <p:blipFill>
          <a:blip r:embed="rId2" cstate="print"/>
          <a:stretch>
            <a:fillRect/>
          </a:stretch>
        </p:blipFill>
        <p:spPr>
          <a:xfrm>
            <a:off x="0" y="9525"/>
            <a:ext cx="4514849" cy="8096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71600" y="1927029"/>
            <a:ext cx="5511801" cy="659796"/>
          </a:xfrm>
          <a:prstGeom prst="rect">
            <a:avLst/>
          </a:prstGeom>
        </p:spPr>
        <p:txBody>
          <a:bodyPr vert="horz" wrap="square" lIns="0" tIns="13335" rIns="0" bIns="0" rtlCol="0">
            <a:spAutoFit/>
          </a:bodyPr>
          <a:lstStyle/>
          <a:p>
            <a:pPr marL="12700">
              <a:lnSpc>
                <a:spcPct val="100000"/>
              </a:lnSpc>
              <a:spcBef>
                <a:spcPts val="105"/>
              </a:spcBef>
            </a:pPr>
            <a:r>
              <a:rPr lang="en-US" sz="4200" b="1" dirty="0">
                <a:solidFill>
                  <a:schemeClr val="tx1">
                    <a:lumMod val="85000"/>
                  </a:schemeClr>
                </a:solidFill>
                <a:latin typeface="Times New Roman"/>
                <a:cs typeface="Times New Roman"/>
              </a:rPr>
              <a:t>Job Department Table</a:t>
            </a:r>
            <a:endParaRPr sz="4200" dirty="0">
              <a:solidFill>
                <a:schemeClr val="tx1">
                  <a:lumMod val="85000"/>
                </a:schemeClr>
              </a:solidFill>
              <a:latin typeface="Times New Roman"/>
              <a:cs typeface="Times New Roman"/>
            </a:endParaRPr>
          </a:p>
        </p:txBody>
      </p:sp>
      <p:sp>
        <p:nvSpPr>
          <p:cNvPr id="3" name="object 3"/>
          <p:cNvSpPr txBox="1"/>
          <p:nvPr/>
        </p:nvSpPr>
        <p:spPr>
          <a:xfrm>
            <a:off x="1524000" y="5918957"/>
            <a:ext cx="4597401" cy="659155"/>
          </a:xfrm>
          <a:prstGeom prst="rect">
            <a:avLst/>
          </a:prstGeom>
        </p:spPr>
        <p:txBody>
          <a:bodyPr vert="horz" wrap="square" lIns="0" tIns="12700" rIns="0" bIns="0" rtlCol="0">
            <a:spAutoFit/>
          </a:bodyPr>
          <a:lstStyle/>
          <a:p>
            <a:pPr marL="12700">
              <a:lnSpc>
                <a:spcPct val="100000"/>
              </a:lnSpc>
              <a:spcBef>
                <a:spcPts val="100"/>
              </a:spcBef>
            </a:pPr>
            <a:r>
              <a:rPr lang="en-US" sz="4200" b="1" dirty="0">
                <a:solidFill>
                  <a:schemeClr val="tx1">
                    <a:lumMod val="85000"/>
                  </a:schemeClr>
                </a:solidFill>
                <a:latin typeface="Times New Roman"/>
                <a:cs typeface="Times New Roman"/>
              </a:rPr>
              <a:t>Salary Bonus</a:t>
            </a:r>
            <a:r>
              <a:rPr sz="4200" b="1" spc="-229" dirty="0">
                <a:solidFill>
                  <a:schemeClr val="tx1">
                    <a:lumMod val="85000"/>
                  </a:schemeClr>
                </a:solidFill>
                <a:latin typeface="Times New Roman"/>
                <a:cs typeface="Times New Roman"/>
              </a:rPr>
              <a:t> </a:t>
            </a:r>
            <a:r>
              <a:rPr sz="4200" b="1" spc="-50" dirty="0">
                <a:solidFill>
                  <a:schemeClr val="tx1">
                    <a:lumMod val="85000"/>
                  </a:schemeClr>
                </a:solidFill>
                <a:latin typeface="Times New Roman"/>
                <a:cs typeface="Times New Roman"/>
              </a:rPr>
              <a:t>Table</a:t>
            </a:r>
            <a:endParaRPr sz="4200" dirty="0">
              <a:solidFill>
                <a:schemeClr val="tx1">
                  <a:lumMod val="85000"/>
                </a:schemeClr>
              </a:solidFill>
              <a:latin typeface="Times New Roman"/>
              <a:cs typeface="Times New Roman"/>
            </a:endParaRPr>
          </a:p>
        </p:txBody>
      </p:sp>
      <p:sp>
        <p:nvSpPr>
          <p:cNvPr id="4" name="object 4"/>
          <p:cNvSpPr txBox="1"/>
          <p:nvPr/>
        </p:nvSpPr>
        <p:spPr>
          <a:xfrm>
            <a:off x="11675464" y="5507085"/>
            <a:ext cx="4233472" cy="659796"/>
          </a:xfrm>
          <a:prstGeom prst="rect">
            <a:avLst/>
          </a:prstGeom>
        </p:spPr>
        <p:txBody>
          <a:bodyPr vert="horz" wrap="square" lIns="0" tIns="13335" rIns="0" bIns="0" rtlCol="0">
            <a:spAutoFit/>
          </a:bodyPr>
          <a:lstStyle/>
          <a:p>
            <a:pPr marL="12700">
              <a:lnSpc>
                <a:spcPct val="100000"/>
              </a:lnSpc>
              <a:spcBef>
                <a:spcPts val="105"/>
              </a:spcBef>
            </a:pPr>
            <a:r>
              <a:rPr lang="en-US" sz="4200" b="1" dirty="0">
                <a:solidFill>
                  <a:schemeClr val="tx1">
                    <a:lumMod val="85000"/>
                  </a:schemeClr>
                </a:solidFill>
                <a:latin typeface="Times New Roman"/>
                <a:cs typeface="Times New Roman"/>
              </a:rPr>
              <a:t>Employee </a:t>
            </a:r>
            <a:r>
              <a:rPr sz="4200" b="1" spc="-60" dirty="0">
                <a:solidFill>
                  <a:schemeClr val="tx1">
                    <a:lumMod val="85000"/>
                  </a:schemeClr>
                </a:solidFill>
                <a:latin typeface="Times New Roman"/>
                <a:cs typeface="Times New Roman"/>
              </a:rPr>
              <a:t>Table</a:t>
            </a:r>
            <a:endParaRPr sz="4200" dirty="0">
              <a:solidFill>
                <a:schemeClr val="tx1">
                  <a:lumMod val="85000"/>
                </a:schemeClr>
              </a:solidFill>
              <a:latin typeface="Times New Roman"/>
              <a:cs typeface="Times New Roman"/>
            </a:endParaRPr>
          </a:p>
        </p:txBody>
      </p:sp>
      <p:sp>
        <p:nvSpPr>
          <p:cNvPr id="6" name="object 6"/>
          <p:cNvSpPr txBox="1">
            <a:spLocks noGrp="1"/>
          </p:cNvSpPr>
          <p:nvPr>
            <p:ph type="title"/>
          </p:nvPr>
        </p:nvSpPr>
        <p:spPr>
          <a:xfrm>
            <a:off x="6629400" y="566421"/>
            <a:ext cx="4454525" cy="1013739"/>
          </a:xfrm>
          <a:prstGeom prst="rect">
            <a:avLst/>
          </a:prstGeom>
        </p:spPr>
        <p:txBody>
          <a:bodyPr vert="horz" wrap="square" lIns="0" tIns="13335" rIns="0" bIns="0" rtlCol="0">
            <a:spAutoFit/>
          </a:bodyPr>
          <a:lstStyle/>
          <a:p>
            <a:pPr marL="12700">
              <a:lnSpc>
                <a:spcPct val="100000"/>
              </a:lnSpc>
              <a:spcBef>
                <a:spcPts val="105"/>
              </a:spcBef>
            </a:pPr>
            <a:r>
              <a:rPr sz="6500" spc="-670" dirty="0">
                <a:latin typeface="Times New Roman" panose="02020603050405020304" pitchFamily="18" charset="0"/>
                <a:cs typeface="Times New Roman" panose="02020603050405020304" pitchFamily="18" charset="0"/>
              </a:rPr>
              <a:t>T</a:t>
            </a:r>
            <a:r>
              <a:rPr sz="6500" spc="5" dirty="0">
                <a:latin typeface="Times New Roman" panose="02020603050405020304" pitchFamily="18" charset="0"/>
                <a:cs typeface="Times New Roman" panose="02020603050405020304" pitchFamily="18" charset="0"/>
              </a:rPr>
              <a:t>a</a:t>
            </a:r>
            <a:r>
              <a:rPr sz="6500" spc="40" dirty="0">
                <a:latin typeface="Times New Roman" panose="02020603050405020304" pitchFamily="18" charset="0"/>
                <a:cs typeface="Times New Roman" panose="02020603050405020304" pitchFamily="18" charset="0"/>
              </a:rPr>
              <a:t>b</a:t>
            </a:r>
            <a:r>
              <a:rPr sz="6500" spc="-25" dirty="0">
                <a:latin typeface="Times New Roman" panose="02020603050405020304" pitchFamily="18" charset="0"/>
                <a:cs typeface="Times New Roman" panose="02020603050405020304" pitchFamily="18" charset="0"/>
              </a:rPr>
              <a:t>l</a:t>
            </a:r>
            <a:r>
              <a:rPr sz="6500" spc="10" dirty="0">
                <a:latin typeface="Times New Roman" panose="02020603050405020304" pitchFamily="18" charset="0"/>
                <a:cs typeface="Times New Roman" panose="02020603050405020304" pitchFamily="18" charset="0"/>
              </a:rPr>
              <a:t>es</a:t>
            </a:r>
            <a:endParaRPr sz="650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0" y="9525"/>
            <a:ext cx="4514849" cy="80962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116" y="3009899"/>
            <a:ext cx="8686484" cy="2118525"/>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 y="6896100"/>
            <a:ext cx="6781800" cy="2010437"/>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4600" y="6811037"/>
            <a:ext cx="7315200" cy="2133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2685414" y="5509895"/>
            <a:ext cx="4573905" cy="666750"/>
          </a:xfrm>
          <a:prstGeom prst="rect">
            <a:avLst/>
          </a:prstGeom>
        </p:spPr>
        <p:txBody>
          <a:bodyPr vert="horz" wrap="square" lIns="0" tIns="13335" rIns="0" bIns="0" rtlCol="0">
            <a:spAutoFit/>
          </a:bodyPr>
          <a:lstStyle/>
          <a:p>
            <a:pPr marL="12700">
              <a:lnSpc>
                <a:spcPct val="100000"/>
              </a:lnSpc>
              <a:spcBef>
                <a:spcPts val="105"/>
              </a:spcBef>
            </a:pPr>
            <a:r>
              <a:rPr lang="en-US" sz="4200" b="1" dirty="0">
                <a:solidFill>
                  <a:schemeClr val="tx1">
                    <a:lumMod val="85000"/>
                  </a:schemeClr>
                </a:solidFill>
                <a:latin typeface="Times New Roman"/>
                <a:cs typeface="Times New Roman"/>
              </a:rPr>
              <a:t>Pay Roll Table</a:t>
            </a:r>
            <a:endParaRPr sz="4200" dirty="0">
              <a:solidFill>
                <a:schemeClr val="tx1">
                  <a:lumMod val="85000"/>
                </a:schemeClr>
              </a:solidFill>
              <a:latin typeface="Times New Roman"/>
              <a:cs typeface="Times New Roman"/>
            </a:endParaRPr>
          </a:p>
        </p:txBody>
      </p:sp>
      <p:sp>
        <p:nvSpPr>
          <p:cNvPr id="7" name="object 7"/>
          <p:cNvSpPr txBox="1">
            <a:spLocks noGrp="1"/>
          </p:cNvSpPr>
          <p:nvPr>
            <p:ph type="title"/>
          </p:nvPr>
        </p:nvSpPr>
        <p:spPr>
          <a:xfrm>
            <a:off x="6705600" y="302334"/>
            <a:ext cx="4213225" cy="1016945"/>
          </a:xfrm>
          <a:prstGeom prst="rect">
            <a:avLst/>
          </a:prstGeom>
        </p:spPr>
        <p:txBody>
          <a:bodyPr vert="horz" wrap="square" lIns="0" tIns="16510" rIns="0" bIns="0" rtlCol="0">
            <a:spAutoFit/>
          </a:bodyPr>
          <a:lstStyle/>
          <a:p>
            <a:pPr marL="12700">
              <a:lnSpc>
                <a:spcPct val="100000"/>
              </a:lnSpc>
              <a:spcBef>
                <a:spcPts val="130"/>
              </a:spcBef>
            </a:pPr>
            <a:r>
              <a:rPr sz="6500" spc="-760" dirty="0">
                <a:latin typeface="Times New Roman" panose="02020603050405020304" pitchFamily="18" charset="0"/>
                <a:cs typeface="Times New Roman" panose="02020603050405020304" pitchFamily="18" charset="0"/>
              </a:rPr>
              <a:t>T</a:t>
            </a:r>
            <a:r>
              <a:rPr sz="6500" spc="50" dirty="0">
                <a:latin typeface="Times New Roman" panose="02020603050405020304" pitchFamily="18" charset="0"/>
                <a:cs typeface="Times New Roman" panose="02020603050405020304" pitchFamily="18" charset="0"/>
              </a:rPr>
              <a:t>a</a:t>
            </a:r>
            <a:r>
              <a:rPr sz="6500" spc="-25" dirty="0">
                <a:latin typeface="Times New Roman" panose="02020603050405020304" pitchFamily="18" charset="0"/>
                <a:cs typeface="Times New Roman" panose="02020603050405020304" pitchFamily="18" charset="0"/>
              </a:rPr>
              <a:t>b</a:t>
            </a:r>
            <a:r>
              <a:rPr sz="6500" spc="15" dirty="0">
                <a:latin typeface="Times New Roman" panose="02020603050405020304" pitchFamily="18" charset="0"/>
                <a:cs typeface="Times New Roman" panose="02020603050405020304" pitchFamily="18" charset="0"/>
              </a:rPr>
              <a:t>les</a:t>
            </a:r>
            <a:endParaRPr sz="6500" dirty="0">
              <a:latin typeface="Times New Roman" panose="02020603050405020304" pitchFamily="18" charset="0"/>
              <a:cs typeface="Times New Roman" panose="02020603050405020304" pitchFamily="18" charset="0"/>
            </a:endParaRPr>
          </a:p>
        </p:txBody>
      </p:sp>
      <p:sp>
        <p:nvSpPr>
          <p:cNvPr id="8" name="object 8"/>
          <p:cNvSpPr txBox="1"/>
          <p:nvPr/>
        </p:nvSpPr>
        <p:spPr>
          <a:xfrm>
            <a:off x="2533966" y="1803781"/>
            <a:ext cx="4876800" cy="659796"/>
          </a:xfrm>
          <a:prstGeom prst="rect">
            <a:avLst/>
          </a:prstGeom>
        </p:spPr>
        <p:txBody>
          <a:bodyPr vert="horz" wrap="square" lIns="0" tIns="13335" rIns="0" bIns="0" rtlCol="0">
            <a:spAutoFit/>
          </a:bodyPr>
          <a:lstStyle/>
          <a:p>
            <a:pPr marL="12700">
              <a:lnSpc>
                <a:spcPct val="100000"/>
              </a:lnSpc>
              <a:spcBef>
                <a:spcPts val="105"/>
              </a:spcBef>
            </a:pPr>
            <a:r>
              <a:rPr lang="en-US" sz="4200" b="1" dirty="0">
                <a:solidFill>
                  <a:schemeClr val="tx1">
                    <a:lumMod val="85000"/>
                  </a:schemeClr>
                </a:solidFill>
                <a:latin typeface="Times New Roman"/>
                <a:cs typeface="Times New Roman"/>
              </a:rPr>
              <a:t>Qualification</a:t>
            </a:r>
            <a:r>
              <a:rPr sz="4200" b="1" spc="-65" dirty="0">
                <a:solidFill>
                  <a:schemeClr val="tx1">
                    <a:lumMod val="85000"/>
                  </a:schemeClr>
                </a:solidFill>
                <a:latin typeface="Times New Roman"/>
                <a:cs typeface="Times New Roman"/>
              </a:rPr>
              <a:t>Table</a:t>
            </a:r>
            <a:endParaRPr sz="4200" dirty="0">
              <a:solidFill>
                <a:schemeClr val="tx1">
                  <a:lumMod val="85000"/>
                </a:schemeClr>
              </a:solidFill>
              <a:latin typeface="Times New Roman"/>
              <a:cs typeface="Times New Roman"/>
            </a:endParaRPr>
          </a:p>
        </p:txBody>
      </p:sp>
      <p:pic>
        <p:nvPicPr>
          <p:cNvPr id="9" name="object 9"/>
          <p:cNvPicPr/>
          <p:nvPr/>
        </p:nvPicPr>
        <p:blipFill>
          <a:blip r:embed="rId2" cstate="print"/>
          <a:stretch>
            <a:fillRect/>
          </a:stretch>
        </p:blipFill>
        <p:spPr>
          <a:xfrm>
            <a:off x="0" y="-170357"/>
            <a:ext cx="4514849" cy="809625"/>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275" y="2838187"/>
            <a:ext cx="8874492" cy="2158005"/>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274" y="6690348"/>
            <a:ext cx="9077325" cy="19583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28800" y="840317"/>
            <a:ext cx="11506201" cy="1078757"/>
          </a:xfrm>
          <a:prstGeom prst="rect">
            <a:avLst/>
          </a:prstGeom>
        </p:spPr>
        <p:txBody>
          <a:bodyPr vert="horz" wrap="square" lIns="0" tIns="77724" rIns="0" bIns="0" rtlCol="0">
            <a:spAutoFit/>
          </a:bodyPr>
          <a:lstStyle/>
          <a:p>
            <a:pPr marL="4700905">
              <a:lnSpc>
                <a:spcPct val="100000"/>
              </a:lnSpc>
              <a:spcBef>
                <a:spcPts val="130"/>
              </a:spcBef>
            </a:pPr>
            <a:r>
              <a:rPr sz="6500" dirty="0">
                <a:latin typeface="Times New Roman" panose="02020603050405020304" pitchFamily="18" charset="0"/>
                <a:cs typeface="Times New Roman" panose="02020603050405020304" pitchFamily="18" charset="0"/>
              </a:rPr>
              <a:t>ER</a:t>
            </a:r>
            <a:r>
              <a:rPr sz="6500" spc="-30" dirty="0">
                <a:latin typeface="Times New Roman" panose="02020603050405020304" pitchFamily="18" charset="0"/>
                <a:cs typeface="Times New Roman" panose="02020603050405020304" pitchFamily="18" charset="0"/>
              </a:rPr>
              <a:t> </a:t>
            </a:r>
            <a:r>
              <a:rPr sz="6500" spc="-10" dirty="0">
                <a:latin typeface="Times New Roman" panose="02020603050405020304" pitchFamily="18" charset="0"/>
                <a:cs typeface="Times New Roman" panose="02020603050405020304" pitchFamily="18" charset="0"/>
              </a:rPr>
              <a:t>Diagram</a:t>
            </a:r>
            <a:endParaRPr sz="65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0" y="9525"/>
            <a:ext cx="4514849" cy="809625"/>
          </a:xfrm>
          <a:prstGeom prst="rect">
            <a:avLst/>
          </a:prstGeom>
        </p:spPr>
      </p:pic>
      <p:pic>
        <p:nvPicPr>
          <p:cNvPr id="6" name="Picture 5">
            <a:extLst>
              <a:ext uri="{FF2B5EF4-FFF2-40B4-BE49-F238E27FC236}">
                <a16:creationId xmlns:a16="http://schemas.microsoft.com/office/drawing/2014/main" id="{04572EE0-C11B-1B97-B8C1-E5B80F9DB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2362199"/>
            <a:ext cx="14935200" cy="73533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0" y="2686553"/>
            <a:ext cx="15327630" cy="7317068"/>
          </a:xfrm>
          <a:prstGeom prst="rect">
            <a:avLst/>
          </a:prstGeom>
        </p:spPr>
        <p:txBody>
          <a:bodyPr vert="horz" wrap="square" lIns="0" tIns="8255" rIns="0" bIns="0" rtlCol="0">
            <a:spAutoFit/>
          </a:bodyPr>
          <a:lstStyle/>
          <a:p>
            <a:pPr marL="12700" marR="5080" algn="just">
              <a:lnSpc>
                <a:spcPct val="118900"/>
              </a:lnSpc>
              <a:spcBef>
                <a:spcPts val="65"/>
              </a:spcBef>
            </a:pPr>
            <a:r>
              <a:rPr lang="en-US" sz="3650" dirty="0">
                <a:solidFill>
                  <a:schemeClr val="accent6">
                    <a:lumMod val="60000"/>
                    <a:lumOff val="40000"/>
                  </a:schemeClr>
                </a:solidFill>
                <a:latin typeface="Calibri"/>
                <a:cs typeface="Calibri"/>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	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endParaRPr sz="3650" dirty="0">
              <a:solidFill>
                <a:schemeClr val="accent6">
                  <a:lumMod val="60000"/>
                  <a:lumOff val="40000"/>
                </a:schemeClr>
              </a:solidFill>
              <a:latin typeface="Calibri"/>
              <a:cs typeface="Calibri"/>
            </a:endParaRPr>
          </a:p>
        </p:txBody>
      </p:sp>
      <p:sp>
        <p:nvSpPr>
          <p:cNvPr id="3" name="object 3"/>
          <p:cNvSpPr txBox="1">
            <a:spLocks noGrp="1"/>
          </p:cNvSpPr>
          <p:nvPr>
            <p:ph type="title"/>
          </p:nvPr>
        </p:nvSpPr>
        <p:spPr>
          <a:xfrm>
            <a:off x="2438400" y="1023806"/>
            <a:ext cx="11963400" cy="1458091"/>
          </a:xfrm>
          <a:prstGeom prst="rect">
            <a:avLst/>
          </a:prstGeom>
        </p:spPr>
        <p:txBody>
          <a:bodyPr vert="horz" wrap="square" lIns="0" tIns="621030" rIns="0" bIns="0" rtlCol="0">
            <a:spAutoFit/>
          </a:bodyPr>
          <a:lstStyle/>
          <a:p>
            <a:pPr marL="3359150">
              <a:lnSpc>
                <a:spcPct val="100000"/>
              </a:lnSpc>
              <a:spcBef>
                <a:spcPts val="105"/>
              </a:spcBef>
            </a:pPr>
            <a:r>
              <a:rPr sz="5400" dirty="0"/>
              <a:t>Problem</a:t>
            </a:r>
            <a:r>
              <a:rPr sz="5400" spc="-245" dirty="0"/>
              <a:t> </a:t>
            </a:r>
            <a:r>
              <a:rPr sz="5400" spc="-10" dirty="0">
                <a:latin typeface="Times New Roman" panose="02020603050405020304" pitchFamily="18" charset="0"/>
                <a:cs typeface="Times New Roman" panose="02020603050405020304" pitchFamily="18" charset="0"/>
              </a:rPr>
              <a:t>Statement</a:t>
            </a:r>
            <a:endParaRPr sz="5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0" y="9525"/>
            <a:ext cx="4514849" cy="8096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prstGeom prst="rect">
            <a:avLst/>
          </a:prstGeom>
        </p:spPr>
        <p:txBody>
          <a:bodyPr vert="horz" wrap="square" lIns="0" tIns="662876" rIns="0" bIns="0" rtlCol="0">
            <a:spAutoFit/>
          </a:bodyPr>
          <a:lstStyle/>
          <a:p>
            <a:pPr marL="1724025">
              <a:lnSpc>
                <a:spcPct val="100000"/>
              </a:lnSpc>
              <a:spcBef>
                <a:spcPts val="105"/>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 How many unique employees are currently in the system?</a:t>
            </a:r>
            <a:endParaRPr sz="350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19310" y="10436"/>
            <a:ext cx="4314824" cy="78105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4252" y="5219700"/>
            <a:ext cx="5181600" cy="1752600"/>
          </a:xfrm>
          <a:prstGeom prst="rect">
            <a:avLst/>
          </a:prstGeom>
        </p:spPr>
      </p:pic>
      <p:sp>
        <p:nvSpPr>
          <p:cNvPr id="9" name="AutoShape 2" descr="Employee Management: Meaning, Importance, Tips, Tools &amp; Mo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Employee Management: Meaning, Importance, Tips, Tools &amp; Mo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p:cNvPicPr>
            <a:picLocks noChangeAspect="1"/>
          </p:cNvPicPr>
          <p:nvPr/>
        </p:nvPicPr>
        <p:blipFill>
          <a:blip r:embed="rId4"/>
          <a:stretch>
            <a:fillRect/>
          </a:stretch>
        </p:blipFill>
        <p:spPr>
          <a:xfrm>
            <a:off x="3036266" y="3695700"/>
            <a:ext cx="8325299" cy="10716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dirty="0">
                <a:latin typeface="Times New Roman" panose="02020603050405020304" pitchFamily="18" charset="0"/>
                <a:cs typeface="Times New Roman" panose="02020603050405020304" pitchFamily="18" charset="0"/>
              </a:rPr>
              <a:t>2. Which departments have the highest number of employees?</a:t>
            </a:r>
            <a:endParaRPr lang="en-US" sz="3500" dirty="0"/>
          </a:p>
        </p:txBody>
      </p:sp>
      <p:pic>
        <p:nvPicPr>
          <p:cNvPr id="3" name="object 7"/>
          <p:cNvPicPr/>
          <p:nvPr/>
        </p:nvPicPr>
        <p:blipFill>
          <a:blip r:embed="rId2" cstate="print"/>
          <a:stretch>
            <a:fillRect/>
          </a:stretch>
        </p:blipFill>
        <p:spPr>
          <a:xfrm>
            <a:off x="-19310" y="10436"/>
            <a:ext cx="4314824" cy="781050"/>
          </a:xfrm>
          <a:prstGeom prst="rect">
            <a:avLst/>
          </a:prstGeom>
        </p:spPr>
      </p:pic>
      <p:pic>
        <p:nvPicPr>
          <p:cNvPr id="4" name="Picture 3"/>
          <p:cNvPicPr>
            <a:picLocks noChangeAspect="1"/>
          </p:cNvPicPr>
          <p:nvPr/>
        </p:nvPicPr>
        <p:blipFill>
          <a:blip r:embed="rId3"/>
          <a:stretch>
            <a:fillRect/>
          </a:stretch>
        </p:blipFill>
        <p:spPr>
          <a:xfrm>
            <a:off x="2666999" y="3026798"/>
            <a:ext cx="13808931" cy="219290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5600" y="7124700"/>
            <a:ext cx="5562601" cy="2356786"/>
          </a:xfrm>
          <a:prstGeom prst="rect">
            <a:avLst/>
          </a:prstGeom>
        </p:spPr>
      </p:pic>
    </p:spTree>
    <p:extLst>
      <p:ext uri="{BB962C8B-B14F-4D97-AF65-F5344CB8AC3E}">
        <p14:creationId xmlns:p14="http://schemas.microsoft.com/office/powerpoint/2010/main" val="683550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257424" y="1028700"/>
            <a:ext cx="13182600" cy="1225656"/>
          </a:xfrm>
          <a:prstGeom prst="rect">
            <a:avLst/>
          </a:prstGeom>
        </p:spPr>
        <p:txBody>
          <a:bodyPr vert="horz" wrap="square" lIns="0" tIns="680402" rIns="0" bIns="0" rtlCol="0">
            <a:spAutoFit/>
          </a:bodyPr>
          <a:lstStyle/>
          <a:p>
            <a:pPr marL="698500">
              <a:lnSpc>
                <a:spcPct val="100000"/>
              </a:lnSpc>
              <a:spcBef>
                <a:spcPts val="130"/>
              </a:spcBef>
            </a:pPr>
            <a:r>
              <a:rPr lang="en-US" sz="3500" dirty="0">
                <a:latin typeface="Times New Roman" panose="02020603050405020304" pitchFamily="18" charset="0"/>
                <a:cs typeface="Times New Roman" panose="02020603050405020304" pitchFamily="18" charset="0"/>
              </a:rPr>
              <a:t>3</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What is the average salary per department?</a:t>
            </a:r>
            <a:endParaRPr sz="3500" spc="-1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0" y="9525"/>
            <a:ext cx="4514849" cy="809625"/>
          </a:xfrm>
          <a:prstGeom prst="rect">
            <a:avLst/>
          </a:prstGeom>
        </p:spPr>
      </p:pic>
      <p:pic>
        <p:nvPicPr>
          <p:cNvPr id="8" name="Picture 7"/>
          <p:cNvPicPr>
            <a:picLocks noChangeAspect="1"/>
          </p:cNvPicPr>
          <p:nvPr/>
        </p:nvPicPr>
        <p:blipFill>
          <a:blip r:embed="rId3"/>
          <a:stretch>
            <a:fillRect/>
          </a:stretch>
        </p:blipFill>
        <p:spPr>
          <a:xfrm>
            <a:off x="3429000" y="3162300"/>
            <a:ext cx="7752522" cy="19812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5526" y="6286500"/>
            <a:ext cx="5997074" cy="27567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33400" y="711667"/>
            <a:ext cx="15530642" cy="1225656"/>
          </a:xfrm>
          <a:prstGeom prst="rect">
            <a:avLst/>
          </a:prstGeom>
        </p:spPr>
        <p:txBody>
          <a:bodyPr vert="horz" wrap="square" lIns="0" tIns="680402" rIns="0" bIns="0" rtlCol="0">
            <a:spAutoFit/>
          </a:bodyPr>
          <a:lstStyle/>
          <a:p>
            <a:pPr marL="767715">
              <a:lnSpc>
                <a:spcPct val="100000"/>
              </a:lnSpc>
              <a:spcBef>
                <a:spcPts val="130"/>
              </a:spcBef>
            </a:pPr>
            <a:r>
              <a:rPr lang="en-US" sz="3500" dirty="0">
                <a:latin typeface="Times New Roman" panose="02020603050405020304" pitchFamily="18" charset="0"/>
                <a:cs typeface="Times New Roman" panose="02020603050405020304" pitchFamily="18" charset="0"/>
              </a:rPr>
              <a:t>4</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Who are the top 5 highest-paid employees?</a:t>
            </a:r>
            <a:endParaRPr sz="3500" spc="-10"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0" y="9525"/>
            <a:ext cx="4514849" cy="809625"/>
          </a:xfrm>
          <a:prstGeom prst="rect">
            <a:avLst/>
          </a:prstGeom>
        </p:spPr>
      </p:pic>
      <p:pic>
        <p:nvPicPr>
          <p:cNvPr id="6" name="Picture 5"/>
          <p:cNvPicPr>
            <a:picLocks noChangeAspect="1"/>
          </p:cNvPicPr>
          <p:nvPr/>
        </p:nvPicPr>
        <p:blipFill>
          <a:blip r:embed="rId3"/>
          <a:stretch>
            <a:fillRect/>
          </a:stretch>
        </p:blipFill>
        <p:spPr>
          <a:xfrm>
            <a:off x="2971799" y="2658826"/>
            <a:ext cx="10710677" cy="256087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799" y="7048500"/>
            <a:ext cx="5486401" cy="21240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57201" y="1027010"/>
            <a:ext cx="16444134" cy="1764265"/>
          </a:xfrm>
          <a:prstGeom prst="rect">
            <a:avLst/>
          </a:prstGeom>
        </p:spPr>
        <p:txBody>
          <a:bodyPr vert="horz" wrap="square" lIns="0" tIns="680402" rIns="0" bIns="0" rtlCol="0">
            <a:spAutoFit/>
          </a:bodyPr>
          <a:lstStyle/>
          <a:p>
            <a:pPr marL="1190625">
              <a:lnSpc>
                <a:spcPct val="100000"/>
              </a:lnSpc>
              <a:spcBef>
                <a:spcPts val="130"/>
              </a:spcBef>
            </a:pPr>
            <a:r>
              <a:rPr lang="en-US" sz="3500" dirty="0">
                <a:latin typeface="Times New Roman" panose="02020603050405020304" pitchFamily="18" charset="0"/>
                <a:cs typeface="Times New Roman" panose="02020603050405020304" pitchFamily="18" charset="0"/>
              </a:rPr>
              <a:t>5</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What is the total salary expenditure across the company?</a:t>
            </a:r>
            <a:endParaRPr sz="3500" spc="-10" dirty="0">
              <a:latin typeface="Times New Roman" panose="02020603050405020304" pitchFamily="18" charset="0"/>
              <a:cs typeface="Times New Roman" panose="02020603050405020304" pitchFamily="18" charset="0"/>
            </a:endParaRPr>
          </a:p>
        </p:txBody>
      </p:sp>
      <p:pic>
        <p:nvPicPr>
          <p:cNvPr id="6" name="object 6"/>
          <p:cNvPicPr/>
          <p:nvPr/>
        </p:nvPicPr>
        <p:blipFill>
          <a:blip r:embed="rId2" cstate="print"/>
          <a:stretch>
            <a:fillRect/>
          </a:stretch>
        </p:blipFill>
        <p:spPr>
          <a:xfrm>
            <a:off x="0" y="9525"/>
            <a:ext cx="4514849" cy="809625"/>
          </a:xfrm>
          <a:prstGeom prst="rect">
            <a:avLst/>
          </a:prstGeom>
        </p:spPr>
      </p:pic>
      <p:pic>
        <p:nvPicPr>
          <p:cNvPr id="7" name="Picture 6"/>
          <p:cNvPicPr>
            <a:picLocks noChangeAspect="1"/>
          </p:cNvPicPr>
          <p:nvPr/>
        </p:nvPicPr>
        <p:blipFill>
          <a:blip r:embed="rId3"/>
          <a:stretch>
            <a:fillRect/>
          </a:stretch>
        </p:blipFill>
        <p:spPr>
          <a:xfrm>
            <a:off x="2667000" y="3619500"/>
            <a:ext cx="8984310" cy="187173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0" y="7353300"/>
            <a:ext cx="6341806" cy="152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533400" y="1181100"/>
            <a:ext cx="15530642" cy="1764265"/>
          </a:xfrm>
          <a:prstGeom prst="rect">
            <a:avLst/>
          </a:prstGeom>
        </p:spPr>
        <p:txBody>
          <a:bodyPr vert="horz" wrap="square" lIns="0" tIns="680402" rIns="0" bIns="0" rtlCol="0">
            <a:spAutoFit/>
          </a:bodyPr>
          <a:lstStyle/>
          <a:p>
            <a:pPr marL="2550160">
              <a:lnSpc>
                <a:spcPct val="100000"/>
              </a:lnSpc>
              <a:spcBef>
                <a:spcPts val="130"/>
              </a:spcBef>
            </a:pPr>
            <a:r>
              <a:rPr lang="en-US" sz="3500" dirty="0">
                <a:latin typeface="Times New Roman" panose="02020603050405020304" pitchFamily="18" charset="0"/>
                <a:cs typeface="Times New Roman" panose="02020603050405020304" pitchFamily="18" charset="0"/>
              </a:rPr>
              <a:t>6</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How many different job roles exist in each department?</a:t>
            </a:r>
            <a:r>
              <a:rPr sz="3500" spc="-10" dirty="0">
                <a:latin typeface="Times New Roman" panose="02020603050405020304" pitchFamily="18" charset="0"/>
                <a:cs typeface="Times New Roman" panose="02020603050405020304" pitchFamily="18" charset="0"/>
              </a:rPr>
              <a:t>?</a:t>
            </a:r>
          </a:p>
        </p:txBody>
      </p:sp>
      <p:pic>
        <p:nvPicPr>
          <p:cNvPr id="7" name="object 7"/>
          <p:cNvPicPr/>
          <p:nvPr/>
        </p:nvPicPr>
        <p:blipFill>
          <a:blip r:embed="rId2" cstate="print"/>
          <a:stretch>
            <a:fillRect/>
          </a:stretch>
        </p:blipFill>
        <p:spPr>
          <a:xfrm>
            <a:off x="0" y="9525"/>
            <a:ext cx="4514849" cy="809625"/>
          </a:xfrm>
          <a:prstGeom prst="rect">
            <a:avLst/>
          </a:prstGeom>
        </p:spPr>
      </p:pic>
      <p:pic>
        <p:nvPicPr>
          <p:cNvPr id="8" name="Picture 7"/>
          <p:cNvPicPr>
            <a:picLocks noChangeAspect="1"/>
          </p:cNvPicPr>
          <p:nvPr/>
        </p:nvPicPr>
        <p:blipFill>
          <a:blip r:embed="rId3"/>
          <a:stretch>
            <a:fillRect/>
          </a:stretch>
        </p:blipFill>
        <p:spPr>
          <a:xfrm>
            <a:off x="2667000" y="3543300"/>
            <a:ext cx="11810994" cy="2133599"/>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3716" y="6274834"/>
            <a:ext cx="6001182" cy="28310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609600" y="464585"/>
            <a:ext cx="15530642" cy="1764265"/>
          </a:xfrm>
          <a:prstGeom prst="rect">
            <a:avLst/>
          </a:prstGeom>
        </p:spPr>
        <p:txBody>
          <a:bodyPr vert="horz" wrap="square" lIns="0" tIns="680402" rIns="0" bIns="0" rtlCol="0">
            <a:spAutoFit/>
          </a:bodyPr>
          <a:lstStyle/>
          <a:p>
            <a:pPr marL="1745614">
              <a:lnSpc>
                <a:spcPct val="100000"/>
              </a:lnSpc>
              <a:spcBef>
                <a:spcPts val="130"/>
              </a:spcBef>
            </a:pPr>
            <a:r>
              <a:rPr lang="en-US" sz="3500" dirty="0">
                <a:latin typeface="Times New Roman" panose="02020603050405020304" pitchFamily="18" charset="0"/>
                <a:cs typeface="Times New Roman" panose="02020603050405020304" pitchFamily="18" charset="0"/>
              </a:rPr>
              <a:t>7. What is the average salary range per department?</a:t>
            </a:r>
            <a:r>
              <a:rPr sz="3500" spc="-10" dirty="0">
                <a:latin typeface="Times New Roman" panose="02020603050405020304" pitchFamily="18" charset="0"/>
                <a:cs typeface="Times New Roman" panose="02020603050405020304" pitchFamily="18" charset="0"/>
              </a:rPr>
              <a:t>?</a:t>
            </a:r>
          </a:p>
        </p:txBody>
      </p:sp>
      <p:pic>
        <p:nvPicPr>
          <p:cNvPr id="9" name="object 9"/>
          <p:cNvPicPr/>
          <p:nvPr/>
        </p:nvPicPr>
        <p:blipFill>
          <a:blip r:embed="rId2" cstate="print"/>
          <a:stretch>
            <a:fillRect/>
          </a:stretch>
        </p:blipFill>
        <p:spPr>
          <a:xfrm>
            <a:off x="0" y="9525"/>
            <a:ext cx="4514849" cy="809625"/>
          </a:xfrm>
          <a:prstGeom prst="rect">
            <a:avLst/>
          </a:prstGeom>
        </p:spPr>
      </p:pic>
      <p:pic>
        <p:nvPicPr>
          <p:cNvPr id="10" name="Picture 9"/>
          <p:cNvPicPr>
            <a:picLocks noChangeAspect="1"/>
          </p:cNvPicPr>
          <p:nvPr/>
        </p:nvPicPr>
        <p:blipFill>
          <a:blip r:embed="rId3"/>
          <a:stretch>
            <a:fillRect/>
          </a:stretch>
        </p:blipFill>
        <p:spPr>
          <a:xfrm>
            <a:off x="2362200" y="2714515"/>
            <a:ext cx="12018817" cy="2147974"/>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4600" y="6362700"/>
            <a:ext cx="7010400" cy="28214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219200" y="920149"/>
            <a:ext cx="15530642" cy="1207702"/>
          </a:xfrm>
          <a:prstGeom prst="rect">
            <a:avLst/>
          </a:prstGeom>
        </p:spPr>
        <p:txBody>
          <a:bodyPr vert="horz" wrap="square" lIns="0" tIns="662622" rIns="0" bIns="0" rtlCol="0">
            <a:spAutoFit/>
          </a:bodyPr>
          <a:lstStyle/>
          <a:p>
            <a:pPr marL="192405">
              <a:lnSpc>
                <a:spcPct val="100000"/>
              </a:lnSpc>
              <a:spcBef>
                <a:spcPts val="130"/>
              </a:spcBef>
            </a:pPr>
            <a:r>
              <a:rPr lang="en-US" sz="3500" dirty="0"/>
              <a:t>8</a:t>
            </a:r>
            <a:r>
              <a:rPr sz="3500" dirty="0"/>
              <a:t>.</a:t>
            </a:r>
            <a:r>
              <a:rPr lang="en-US" sz="3500" dirty="0"/>
              <a:t> Which job roles offer the highest salary?</a:t>
            </a:r>
            <a:endParaRPr sz="3500" spc="-10" dirty="0"/>
          </a:p>
        </p:txBody>
      </p:sp>
      <p:pic>
        <p:nvPicPr>
          <p:cNvPr id="6" name="object 6"/>
          <p:cNvPicPr/>
          <p:nvPr/>
        </p:nvPicPr>
        <p:blipFill>
          <a:blip r:embed="rId2" cstate="print"/>
          <a:stretch>
            <a:fillRect/>
          </a:stretch>
        </p:blipFill>
        <p:spPr>
          <a:xfrm>
            <a:off x="0" y="9525"/>
            <a:ext cx="4514849" cy="809625"/>
          </a:xfrm>
          <a:prstGeom prst="rect">
            <a:avLst/>
          </a:prstGeom>
        </p:spPr>
      </p:pic>
      <p:pic>
        <p:nvPicPr>
          <p:cNvPr id="7" name="Picture 6"/>
          <p:cNvPicPr>
            <a:picLocks noChangeAspect="1"/>
          </p:cNvPicPr>
          <p:nvPr/>
        </p:nvPicPr>
        <p:blipFill>
          <a:blip r:embed="rId3"/>
          <a:stretch>
            <a:fillRect/>
          </a:stretch>
        </p:blipFill>
        <p:spPr>
          <a:xfrm>
            <a:off x="2590800" y="2857500"/>
            <a:ext cx="11078450" cy="25908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0786" y="6743700"/>
            <a:ext cx="7447613" cy="22937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370693" y="1035987"/>
            <a:ext cx="15530642" cy="1746311"/>
          </a:xfrm>
          <a:prstGeom prst="rect">
            <a:avLst/>
          </a:prstGeom>
        </p:spPr>
        <p:txBody>
          <a:bodyPr vert="horz" wrap="square" lIns="0" tIns="662622" rIns="0" bIns="0" rtlCol="0">
            <a:spAutoFit/>
          </a:bodyPr>
          <a:lstStyle/>
          <a:p>
            <a:pPr marL="1549400">
              <a:lnSpc>
                <a:spcPct val="100000"/>
              </a:lnSpc>
              <a:spcBef>
                <a:spcPts val="130"/>
              </a:spcBef>
            </a:pPr>
            <a:r>
              <a:rPr lang="en-US" sz="3500" dirty="0">
                <a:latin typeface="Times New Roman" panose="02020603050405020304" pitchFamily="18" charset="0"/>
                <a:cs typeface="Times New Roman" panose="02020603050405020304" pitchFamily="18" charset="0"/>
              </a:rPr>
              <a:t>9</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Which departments have the highest total salary allocation?</a:t>
            </a:r>
            <a:endParaRPr sz="3500" spc="-1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0" y="9525"/>
            <a:ext cx="4514849" cy="809625"/>
          </a:xfrm>
          <a:prstGeom prst="rect">
            <a:avLst/>
          </a:prstGeom>
        </p:spPr>
      </p:pic>
      <p:pic>
        <p:nvPicPr>
          <p:cNvPr id="8" name="Picture 7"/>
          <p:cNvPicPr>
            <a:picLocks noChangeAspect="1"/>
          </p:cNvPicPr>
          <p:nvPr/>
        </p:nvPicPr>
        <p:blipFill>
          <a:blip r:embed="rId3"/>
          <a:stretch>
            <a:fillRect/>
          </a:stretch>
        </p:blipFill>
        <p:spPr>
          <a:xfrm>
            <a:off x="2895600" y="3547336"/>
            <a:ext cx="10134600" cy="2377323"/>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5612" y="6717804"/>
            <a:ext cx="5887387" cy="23995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219200" y="819150"/>
            <a:ext cx="14249400" cy="1746311"/>
          </a:xfrm>
          <a:prstGeom prst="rect">
            <a:avLst/>
          </a:prstGeom>
        </p:spPr>
        <p:txBody>
          <a:bodyPr vert="horz" wrap="square" lIns="0" tIns="662622" rIns="0" bIns="0" rtlCol="0">
            <a:spAutoFit/>
          </a:bodyPr>
          <a:lstStyle/>
          <a:p>
            <a:pPr marL="1572895">
              <a:lnSpc>
                <a:spcPct val="100000"/>
              </a:lnSpc>
              <a:spcBef>
                <a:spcPts val="130"/>
              </a:spcBef>
            </a:pPr>
            <a:r>
              <a:rPr lang="en-US" sz="3500" dirty="0">
                <a:latin typeface="Times New Roman" panose="02020603050405020304" pitchFamily="18" charset="0"/>
                <a:cs typeface="Times New Roman" panose="02020603050405020304" pitchFamily="18" charset="0"/>
              </a:rPr>
              <a:t>10</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How many employees have at least one qualification listed?</a:t>
            </a:r>
            <a:endParaRPr sz="3500" spc="-10" dirty="0">
              <a:latin typeface="Times New Roman" panose="02020603050405020304" pitchFamily="18" charset="0"/>
              <a:cs typeface="Times New Roman" panose="02020603050405020304" pitchFamily="18" charset="0"/>
            </a:endParaRPr>
          </a:p>
        </p:txBody>
      </p:sp>
      <p:pic>
        <p:nvPicPr>
          <p:cNvPr id="8" name="object 8"/>
          <p:cNvPicPr/>
          <p:nvPr/>
        </p:nvPicPr>
        <p:blipFill>
          <a:blip r:embed="rId2" cstate="print"/>
          <a:stretch>
            <a:fillRect/>
          </a:stretch>
        </p:blipFill>
        <p:spPr>
          <a:xfrm>
            <a:off x="0" y="9525"/>
            <a:ext cx="4514849" cy="809625"/>
          </a:xfrm>
          <a:prstGeom prst="rect">
            <a:avLst/>
          </a:prstGeom>
        </p:spPr>
      </p:pic>
      <p:pic>
        <p:nvPicPr>
          <p:cNvPr id="9" name="Picture 8"/>
          <p:cNvPicPr>
            <a:picLocks noChangeAspect="1"/>
          </p:cNvPicPr>
          <p:nvPr/>
        </p:nvPicPr>
        <p:blipFill>
          <a:blip r:embed="rId3"/>
          <a:stretch>
            <a:fillRect/>
          </a:stretch>
        </p:blipFill>
        <p:spPr>
          <a:xfrm>
            <a:off x="2824043" y="3375086"/>
            <a:ext cx="8739939" cy="1616014"/>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6743700"/>
            <a:ext cx="6238052" cy="1447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20"/>
          <p:cNvSpPr txBox="1">
            <a:spLocks noGrp="1"/>
          </p:cNvSpPr>
          <p:nvPr>
            <p:ph type="title"/>
          </p:nvPr>
        </p:nvSpPr>
        <p:spPr>
          <a:xfrm>
            <a:off x="-152400" y="1028700"/>
            <a:ext cx="14844842" cy="1746311"/>
          </a:xfrm>
          <a:prstGeom prst="rect">
            <a:avLst/>
          </a:prstGeom>
        </p:spPr>
        <p:txBody>
          <a:bodyPr vert="horz" wrap="square" lIns="0" tIns="662622" rIns="0" bIns="0" rtlCol="0">
            <a:spAutoFit/>
          </a:bodyPr>
          <a:lstStyle/>
          <a:p>
            <a:pPr marL="2395220">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1</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Which positions require the most qualifications?</a:t>
            </a:r>
            <a:endParaRPr sz="3500" spc="-10" dirty="0">
              <a:latin typeface="Times New Roman" panose="02020603050405020304" pitchFamily="18" charset="0"/>
              <a:cs typeface="Times New Roman" panose="02020603050405020304" pitchFamily="18" charset="0"/>
            </a:endParaRPr>
          </a:p>
        </p:txBody>
      </p:sp>
      <p:pic>
        <p:nvPicPr>
          <p:cNvPr id="21" name="object 21"/>
          <p:cNvPicPr/>
          <p:nvPr/>
        </p:nvPicPr>
        <p:blipFill>
          <a:blip r:embed="rId2" cstate="print"/>
          <a:stretch>
            <a:fillRect/>
          </a:stretch>
        </p:blipFill>
        <p:spPr>
          <a:xfrm>
            <a:off x="0" y="9525"/>
            <a:ext cx="4514849" cy="809625"/>
          </a:xfrm>
          <a:prstGeom prst="rect">
            <a:avLst/>
          </a:prstGeom>
        </p:spPr>
      </p:pic>
      <p:pic>
        <p:nvPicPr>
          <p:cNvPr id="22" name="Picture 21"/>
          <p:cNvPicPr>
            <a:picLocks noChangeAspect="1"/>
          </p:cNvPicPr>
          <p:nvPr/>
        </p:nvPicPr>
        <p:blipFill>
          <a:blip r:embed="rId3"/>
          <a:stretch>
            <a:fillRect/>
          </a:stretch>
        </p:blipFill>
        <p:spPr>
          <a:xfrm>
            <a:off x="3810000" y="3619500"/>
            <a:ext cx="8672628" cy="1933664"/>
          </a:xfrm>
          <a:prstGeom prst="rect">
            <a:avLst/>
          </a:prstGeom>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6819900"/>
            <a:ext cx="6705600" cy="25493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a:spLocks noGrp="1"/>
          </p:cNvSpPr>
          <p:nvPr>
            <p:ph type="title"/>
          </p:nvPr>
        </p:nvSpPr>
        <p:spPr>
          <a:xfrm>
            <a:off x="76200" y="1028700"/>
            <a:ext cx="15530642" cy="1746311"/>
          </a:xfrm>
          <a:prstGeom prst="rect">
            <a:avLst/>
          </a:prstGeom>
        </p:spPr>
        <p:txBody>
          <a:bodyPr vert="horz" wrap="square" lIns="0" tIns="662622" rIns="0" bIns="0" rtlCol="0">
            <a:spAutoFit/>
          </a:bodyPr>
          <a:lstStyle/>
          <a:p>
            <a:pPr marL="3212465">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2</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Which employees have the highest number of qualifications?</a:t>
            </a:r>
            <a:endParaRPr sz="3500" spc="-10" dirty="0">
              <a:latin typeface="Times New Roman" panose="02020603050405020304" pitchFamily="18" charset="0"/>
              <a:cs typeface="Times New Roman" panose="02020603050405020304" pitchFamily="18" charset="0"/>
            </a:endParaRPr>
          </a:p>
        </p:txBody>
      </p:sp>
      <p:pic>
        <p:nvPicPr>
          <p:cNvPr id="17" name="object 17"/>
          <p:cNvPicPr/>
          <p:nvPr/>
        </p:nvPicPr>
        <p:blipFill>
          <a:blip r:embed="rId2" cstate="print"/>
          <a:stretch>
            <a:fillRect/>
          </a:stretch>
        </p:blipFill>
        <p:spPr>
          <a:xfrm>
            <a:off x="0" y="9525"/>
            <a:ext cx="4514849" cy="809625"/>
          </a:xfrm>
          <a:prstGeom prst="rect">
            <a:avLst/>
          </a:prstGeom>
        </p:spPr>
      </p:pic>
      <p:pic>
        <p:nvPicPr>
          <p:cNvPr id="18" name="Picture 17"/>
          <p:cNvPicPr>
            <a:picLocks noChangeAspect="1"/>
          </p:cNvPicPr>
          <p:nvPr/>
        </p:nvPicPr>
        <p:blipFill>
          <a:blip r:embed="rId3"/>
          <a:stretch>
            <a:fillRect/>
          </a:stretch>
        </p:blipFill>
        <p:spPr>
          <a:xfrm>
            <a:off x="3200400" y="3543300"/>
            <a:ext cx="11730844" cy="1971780"/>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0400" y="6591300"/>
            <a:ext cx="7924800" cy="215760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28600" y="1181100"/>
            <a:ext cx="15530642" cy="1746311"/>
          </a:xfrm>
          <a:prstGeom prst="rect">
            <a:avLst/>
          </a:prstGeom>
        </p:spPr>
        <p:txBody>
          <a:bodyPr vert="horz" wrap="square" lIns="0" tIns="662622" rIns="0" bIns="0" rtlCol="0">
            <a:spAutoFit/>
          </a:bodyPr>
          <a:lstStyle/>
          <a:p>
            <a:pPr marL="2300605">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3</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Which year had the most employees taking leaves?</a:t>
            </a:r>
            <a:endParaRPr sz="3500" spc="-10" dirty="0">
              <a:latin typeface="Times New Roman" panose="02020603050405020304" pitchFamily="18" charset="0"/>
              <a:cs typeface="Times New Roman" panose="02020603050405020304" pitchFamily="18" charset="0"/>
            </a:endParaRPr>
          </a:p>
        </p:txBody>
      </p:sp>
      <p:pic>
        <p:nvPicPr>
          <p:cNvPr id="6" name="object 6"/>
          <p:cNvPicPr/>
          <p:nvPr/>
        </p:nvPicPr>
        <p:blipFill>
          <a:blip r:embed="rId2" cstate="print"/>
          <a:stretch>
            <a:fillRect/>
          </a:stretch>
        </p:blipFill>
        <p:spPr>
          <a:xfrm>
            <a:off x="0" y="9525"/>
            <a:ext cx="4514849" cy="809625"/>
          </a:xfrm>
          <a:prstGeom prst="rect">
            <a:avLst/>
          </a:prstGeom>
        </p:spPr>
      </p:pic>
      <p:pic>
        <p:nvPicPr>
          <p:cNvPr id="7" name="Picture 6"/>
          <p:cNvPicPr>
            <a:picLocks noChangeAspect="1"/>
          </p:cNvPicPr>
          <p:nvPr/>
        </p:nvPicPr>
        <p:blipFill>
          <a:blip r:embed="rId3"/>
          <a:stretch>
            <a:fillRect/>
          </a:stretch>
        </p:blipFill>
        <p:spPr>
          <a:xfrm>
            <a:off x="3124200" y="3695700"/>
            <a:ext cx="11078820" cy="18288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9189" y="6896100"/>
            <a:ext cx="6270171" cy="1219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title"/>
          </p:nvPr>
        </p:nvSpPr>
        <p:spPr>
          <a:xfrm>
            <a:off x="1370693" y="1035987"/>
            <a:ext cx="15530642" cy="1746311"/>
          </a:xfrm>
          <a:prstGeom prst="rect">
            <a:avLst/>
          </a:prstGeom>
        </p:spPr>
        <p:txBody>
          <a:bodyPr vert="horz" wrap="square" lIns="0" tIns="662622" rIns="0" bIns="0" rtlCol="0">
            <a:spAutoFit/>
          </a:bodyPr>
          <a:lstStyle/>
          <a:p>
            <a:pPr marL="760730">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4</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What is the average number of leave days taken by its employees per department?</a:t>
            </a:r>
            <a:endParaRPr sz="3500" spc="-10" dirty="0">
              <a:latin typeface="Times New Roman" panose="02020603050405020304" pitchFamily="18" charset="0"/>
              <a:cs typeface="Times New Roman" panose="02020603050405020304" pitchFamily="18" charset="0"/>
            </a:endParaRPr>
          </a:p>
        </p:txBody>
      </p:sp>
      <p:pic>
        <p:nvPicPr>
          <p:cNvPr id="14" name="object 14"/>
          <p:cNvPicPr/>
          <p:nvPr/>
        </p:nvPicPr>
        <p:blipFill>
          <a:blip r:embed="rId2" cstate="print"/>
          <a:stretch>
            <a:fillRect/>
          </a:stretch>
        </p:blipFill>
        <p:spPr>
          <a:xfrm>
            <a:off x="0" y="9525"/>
            <a:ext cx="4514849" cy="809625"/>
          </a:xfrm>
          <a:prstGeom prst="rect">
            <a:avLst/>
          </a:prstGeom>
        </p:spPr>
      </p:pic>
      <p:pic>
        <p:nvPicPr>
          <p:cNvPr id="15" name="Picture 14"/>
          <p:cNvPicPr>
            <a:picLocks noChangeAspect="1"/>
          </p:cNvPicPr>
          <p:nvPr/>
        </p:nvPicPr>
        <p:blipFill>
          <a:blip r:embed="rId3"/>
          <a:stretch>
            <a:fillRect/>
          </a:stretch>
        </p:blipFill>
        <p:spPr>
          <a:xfrm>
            <a:off x="2743199" y="3467100"/>
            <a:ext cx="7511533" cy="4038600"/>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0" y="6764683"/>
            <a:ext cx="4267200" cy="253558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143000" y="931663"/>
            <a:ext cx="15530642" cy="1207702"/>
          </a:xfrm>
          <a:prstGeom prst="rect">
            <a:avLst/>
          </a:prstGeom>
        </p:spPr>
        <p:txBody>
          <a:bodyPr vert="horz" wrap="square" lIns="0" tIns="662622" rIns="0" bIns="0" rtlCol="0">
            <a:spAutoFit/>
          </a:bodyPr>
          <a:lstStyle/>
          <a:p>
            <a:pPr marL="871219">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5</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Which employees have taken the most leaves?</a:t>
            </a:r>
            <a:endParaRPr sz="3500" spc="-10" dirty="0">
              <a:latin typeface="Times New Roman" panose="02020603050405020304" pitchFamily="18" charset="0"/>
              <a:cs typeface="Times New Roman" panose="02020603050405020304" pitchFamily="18" charset="0"/>
            </a:endParaRPr>
          </a:p>
        </p:txBody>
      </p:sp>
      <p:pic>
        <p:nvPicPr>
          <p:cNvPr id="6" name="object 6"/>
          <p:cNvPicPr/>
          <p:nvPr/>
        </p:nvPicPr>
        <p:blipFill>
          <a:blip r:embed="rId2" cstate="print"/>
          <a:stretch>
            <a:fillRect/>
          </a:stretch>
        </p:blipFill>
        <p:spPr>
          <a:xfrm>
            <a:off x="0" y="9525"/>
            <a:ext cx="4514849" cy="809625"/>
          </a:xfrm>
          <a:prstGeom prst="rect">
            <a:avLst/>
          </a:prstGeom>
        </p:spPr>
      </p:pic>
      <p:pic>
        <p:nvPicPr>
          <p:cNvPr id="8" name="Picture 7"/>
          <p:cNvPicPr>
            <a:picLocks noChangeAspect="1"/>
          </p:cNvPicPr>
          <p:nvPr/>
        </p:nvPicPr>
        <p:blipFill>
          <a:blip r:embed="rId3"/>
          <a:stretch>
            <a:fillRect/>
          </a:stretch>
        </p:blipFill>
        <p:spPr>
          <a:xfrm>
            <a:off x="3048000" y="3009900"/>
            <a:ext cx="9948612" cy="20574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5474" y="6286500"/>
            <a:ext cx="6873151" cy="2438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370693" y="1035987"/>
            <a:ext cx="15530642" cy="1746311"/>
          </a:xfrm>
          <a:prstGeom prst="rect">
            <a:avLst/>
          </a:prstGeom>
        </p:spPr>
        <p:txBody>
          <a:bodyPr vert="horz" wrap="square" lIns="0" tIns="662622" rIns="0" bIns="0" rtlCol="0">
            <a:spAutoFit/>
          </a:bodyPr>
          <a:lstStyle/>
          <a:p>
            <a:pPr marL="2120900">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6.What is the total number of leave days taken company-wide?</a:t>
            </a:r>
            <a:endParaRPr sz="3500" spc="-1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2" cstate="print"/>
          <a:stretch>
            <a:fillRect/>
          </a:stretch>
        </p:blipFill>
        <p:spPr>
          <a:xfrm>
            <a:off x="0" y="9525"/>
            <a:ext cx="4514849" cy="809625"/>
          </a:xfrm>
          <a:prstGeom prst="rect">
            <a:avLst/>
          </a:prstGeom>
        </p:spPr>
      </p:pic>
      <p:pic>
        <p:nvPicPr>
          <p:cNvPr id="8" name="Picture 7"/>
          <p:cNvPicPr>
            <a:picLocks noChangeAspect="1"/>
          </p:cNvPicPr>
          <p:nvPr/>
        </p:nvPicPr>
        <p:blipFill>
          <a:blip r:embed="rId3"/>
          <a:stretch>
            <a:fillRect/>
          </a:stretch>
        </p:blipFill>
        <p:spPr>
          <a:xfrm>
            <a:off x="4191000" y="3695700"/>
            <a:ext cx="8066805" cy="12954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0" y="6591300"/>
            <a:ext cx="4661210" cy="1447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160053" y="1181100"/>
            <a:ext cx="15530642" cy="1746311"/>
          </a:xfrm>
          <a:prstGeom prst="rect">
            <a:avLst/>
          </a:prstGeom>
        </p:spPr>
        <p:txBody>
          <a:bodyPr vert="horz" wrap="square" lIns="0" tIns="662622" rIns="0" bIns="0" rtlCol="0">
            <a:spAutoFit/>
          </a:bodyPr>
          <a:lstStyle/>
          <a:p>
            <a:pPr marL="2421255">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7. How do leave days correlate with payroll amounts?</a:t>
            </a:r>
            <a:endParaRPr sz="3500" spc="-10" dirty="0">
              <a:latin typeface="Times New Roman" panose="02020603050405020304" pitchFamily="18" charset="0"/>
              <a:cs typeface="Times New Roman" panose="02020603050405020304" pitchFamily="18" charset="0"/>
            </a:endParaRPr>
          </a:p>
        </p:txBody>
      </p:sp>
      <p:pic>
        <p:nvPicPr>
          <p:cNvPr id="12" name="object 12"/>
          <p:cNvPicPr/>
          <p:nvPr/>
        </p:nvPicPr>
        <p:blipFill>
          <a:blip r:embed="rId2" cstate="print"/>
          <a:stretch>
            <a:fillRect/>
          </a:stretch>
        </p:blipFill>
        <p:spPr>
          <a:xfrm>
            <a:off x="0" y="9525"/>
            <a:ext cx="4514849" cy="809625"/>
          </a:xfrm>
          <a:prstGeom prst="rect">
            <a:avLst/>
          </a:prstGeom>
        </p:spPr>
      </p:pic>
      <p:pic>
        <p:nvPicPr>
          <p:cNvPr id="13" name="Picture 12"/>
          <p:cNvPicPr>
            <a:picLocks noChangeAspect="1"/>
          </p:cNvPicPr>
          <p:nvPr/>
        </p:nvPicPr>
        <p:blipFill>
          <a:blip r:embed="rId3"/>
          <a:stretch>
            <a:fillRect/>
          </a:stretch>
        </p:blipFill>
        <p:spPr>
          <a:xfrm>
            <a:off x="3810000" y="3695699"/>
            <a:ext cx="5715000" cy="4021667"/>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5260" y="7200900"/>
            <a:ext cx="7236746" cy="1905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914400" y="1028700"/>
            <a:ext cx="15530642" cy="1207702"/>
          </a:xfrm>
          <a:prstGeom prst="rect">
            <a:avLst/>
          </a:prstGeom>
        </p:spPr>
        <p:txBody>
          <a:bodyPr vert="horz" wrap="square" lIns="0" tIns="662622" rIns="0" bIns="0" rtlCol="0">
            <a:spAutoFit/>
          </a:bodyPr>
          <a:lstStyle/>
          <a:p>
            <a:pPr marL="920750">
              <a:lnSpc>
                <a:spcPct val="100000"/>
              </a:lnSpc>
              <a:spcBef>
                <a:spcPts val="130"/>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8</a:t>
            </a:r>
            <a:r>
              <a:rPr sz="3500" dirty="0">
                <a:latin typeface="Times New Roman" panose="02020603050405020304" pitchFamily="18" charset="0"/>
                <a:cs typeface="Times New Roman" panose="02020603050405020304" pitchFamily="18" charset="0"/>
              </a:rPr>
              <a:t>.</a:t>
            </a:r>
            <a:r>
              <a:rPr lang="en-US" sz="3500" dirty="0">
                <a:latin typeface="Times New Roman" panose="02020603050405020304" pitchFamily="18" charset="0"/>
                <a:cs typeface="Times New Roman" panose="02020603050405020304" pitchFamily="18" charset="0"/>
              </a:rPr>
              <a:t> What is the total monthly payroll processed</a:t>
            </a:r>
            <a:r>
              <a:rPr sz="3500" spc="-10" dirty="0">
                <a:latin typeface="Times New Roman" panose="02020603050405020304" pitchFamily="18" charset="0"/>
                <a:cs typeface="Times New Roman" panose="02020603050405020304" pitchFamily="18" charset="0"/>
              </a:rPr>
              <a:t>?</a:t>
            </a:r>
          </a:p>
        </p:txBody>
      </p:sp>
      <p:pic>
        <p:nvPicPr>
          <p:cNvPr id="10" name="object 10"/>
          <p:cNvPicPr/>
          <p:nvPr/>
        </p:nvPicPr>
        <p:blipFill>
          <a:blip r:embed="rId2" cstate="print"/>
          <a:stretch>
            <a:fillRect/>
          </a:stretch>
        </p:blipFill>
        <p:spPr>
          <a:xfrm>
            <a:off x="0" y="9525"/>
            <a:ext cx="4514849" cy="809625"/>
          </a:xfrm>
          <a:prstGeom prst="rect">
            <a:avLst/>
          </a:prstGeom>
        </p:spPr>
      </p:pic>
      <p:pic>
        <p:nvPicPr>
          <p:cNvPr id="11" name="Picture 10"/>
          <p:cNvPicPr>
            <a:picLocks noChangeAspect="1"/>
          </p:cNvPicPr>
          <p:nvPr/>
        </p:nvPicPr>
        <p:blipFill>
          <a:blip r:embed="rId3"/>
          <a:stretch>
            <a:fillRect/>
          </a:stretch>
        </p:blipFill>
        <p:spPr>
          <a:xfrm>
            <a:off x="2895600" y="3009900"/>
            <a:ext cx="7030090" cy="259080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6154" y="7277100"/>
            <a:ext cx="7244366" cy="1371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bject 23"/>
          <p:cNvSpPr txBox="1">
            <a:spLocks noGrp="1"/>
          </p:cNvSpPr>
          <p:nvPr>
            <p:ph type="title"/>
          </p:nvPr>
        </p:nvSpPr>
        <p:spPr>
          <a:xfrm>
            <a:off x="1981200" y="873802"/>
            <a:ext cx="15530642" cy="1216615"/>
          </a:xfrm>
          <a:prstGeom prst="rect">
            <a:avLst/>
          </a:prstGeom>
        </p:spPr>
        <p:txBody>
          <a:bodyPr vert="horz" wrap="square" lIns="0" tIns="648589" rIns="0" bIns="0" rtlCol="0">
            <a:spAutoFit/>
          </a:bodyPr>
          <a:lstStyle/>
          <a:p>
            <a:pPr marL="260350">
              <a:lnSpc>
                <a:spcPct val="100000"/>
              </a:lnSpc>
              <a:spcBef>
                <a:spcPts val="125"/>
              </a:spcBef>
            </a:pPr>
            <a:r>
              <a:rPr sz="3500" dirty="0">
                <a:latin typeface="Times New Roman" panose="02020603050405020304" pitchFamily="18" charset="0"/>
                <a:cs typeface="Times New Roman" panose="02020603050405020304" pitchFamily="18" charset="0"/>
              </a:rPr>
              <a:t>1</a:t>
            </a:r>
            <a:r>
              <a:rPr lang="en-US" sz="3500" dirty="0">
                <a:latin typeface="Times New Roman" panose="02020603050405020304" pitchFamily="18" charset="0"/>
                <a:cs typeface="Times New Roman" panose="02020603050405020304" pitchFamily="18" charset="0"/>
              </a:rPr>
              <a:t>9. What is the average bonus given per department?</a:t>
            </a:r>
            <a:endParaRPr sz="3500" dirty="0">
              <a:latin typeface="Times New Roman" panose="02020603050405020304" pitchFamily="18" charset="0"/>
              <a:cs typeface="Times New Roman" panose="02020603050405020304" pitchFamily="18" charset="0"/>
            </a:endParaRPr>
          </a:p>
        </p:txBody>
      </p:sp>
      <p:pic>
        <p:nvPicPr>
          <p:cNvPr id="24" name="object 24"/>
          <p:cNvPicPr/>
          <p:nvPr/>
        </p:nvPicPr>
        <p:blipFill>
          <a:blip r:embed="rId2" cstate="print"/>
          <a:stretch>
            <a:fillRect/>
          </a:stretch>
        </p:blipFill>
        <p:spPr>
          <a:xfrm>
            <a:off x="0" y="9525"/>
            <a:ext cx="4514849" cy="809625"/>
          </a:xfrm>
          <a:prstGeom prst="rect">
            <a:avLst/>
          </a:prstGeom>
        </p:spPr>
      </p:pic>
      <p:pic>
        <p:nvPicPr>
          <p:cNvPr id="25" name="Picture 24"/>
          <p:cNvPicPr>
            <a:picLocks noChangeAspect="1"/>
          </p:cNvPicPr>
          <p:nvPr/>
        </p:nvPicPr>
        <p:blipFill>
          <a:blip r:embed="rId3"/>
          <a:stretch>
            <a:fillRect/>
          </a:stretch>
        </p:blipFill>
        <p:spPr>
          <a:xfrm>
            <a:off x="3200399" y="3162300"/>
            <a:ext cx="8531087" cy="1905000"/>
          </a:xfrm>
          <a:prstGeom prst="rect">
            <a:avLst/>
          </a:prstGeom>
        </p:spPr>
      </p:pic>
      <p:pic>
        <p:nvPicPr>
          <p:cNvPr id="26" name="Picture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0399" y="5905500"/>
            <a:ext cx="4953001" cy="271868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228600" y="1028700"/>
            <a:ext cx="15530642" cy="1749773"/>
          </a:xfrm>
          <a:prstGeom prst="rect">
            <a:avLst/>
          </a:prstGeom>
        </p:spPr>
        <p:txBody>
          <a:bodyPr vert="horz" wrap="square" lIns="0" tIns="666051" rIns="0" bIns="0" rtlCol="0">
            <a:spAutoFit/>
          </a:bodyPr>
          <a:lstStyle/>
          <a:p>
            <a:pPr marL="2565400">
              <a:lnSpc>
                <a:spcPct val="100000"/>
              </a:lnSpc>
              <a:spcBef>
                <a:spcPts val="130"/>
              </a:spcBef>
            </a:pPr>
            <a:r>
              <a:rPr lang="en-US" sz="3500" dirty="0">
                <a:latin typeface="Times New Roman" panose="02020603050405020304" pitchFamily="18" charset="0"/>
                <a:cs typeface="Times New Roman" panose="02020603050405020304" pitchFamily="18" charset="0"/>
              </a:rPr>
              <a:t>20. Which department receives the highest total bonuses?</a:t>
            </a:r>
            <a:endParaRPr sz="3500" spc="-10" dirty="0">
              <a:latin typeface="Times New Roman" panose="02020603050405020304" pitchFamily="18" charset="0"/>
              <a:cs typeface="Times New Roman" panose="02020603050405020304" pitchFamily="18" charset="0"/>
            </a:endParaRPr>
          </a:p>
        </p:txBody>
      </p:sp>
      <p:pic>
        <p:nvPicPr>
          <p:cNvPr id="10" name="object 10"/>
          <p:cNvPicPr/>
          <p:nvPr/>
        </p:nvPicPr>
        <p:blipFill>
          <a:blip r:embed="rId2" cstate="print"/>
          <a:stretch>
            <a:fillRect/>
          </a:stretch>
        </p:blipFill>
        <p:spPr>
          <a:xfrm>
            <a:off x="0" y="9525"/>
            <a:ext cx="4391024" cy="790575"/>
          </a:xfrm>
          <a:prstGeom prst="rect">
            <a:avLst/>
          </a:prstGeom>
        </p:spPr>
      </p:pic>
      <p:pic>
        <p:nvPicPr>
          <p:cNvPr id="11" name="Picture 10"/>
          <p:cNvPicPr>
            <a:picLocks noChangeAspect="1"/>
          </p:cNvPicPr>
          <p:nvPr/>
        </p:nvPicPr>
        <p:blipFill>
          <a:blip r:embed="rId3"/>
          <a:stretch>
            <a:fillRect/>
          </a:stretch>
        </p:blipFill>
        <p:spPr>
          <a:xfrm>
            <a:off x="2706808" y="3162300"/>
            <a:ext cx="8403983" cy="236220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6808" y="6438900"/>
            <a:ext cx="6208592" cy="310098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838200" y="952500"/>
            <a:ext cx="14843935" cy="1605182"/>
          </a:xfrm>
          <a:prstGeom prst="rect">
            <a:avLst/>
          </a:prstGeom>
        </p:spPr>
        <p:txBody>
          <a:bodyPr vert="horz" wrap="square" lIns="0" tIns="522858" rIns="0" bIns="0" rtlCol="0">
            <a:spAutoFit/>
          </a:bodyPr>
          <a:lstStyle/>
          <a:p>
            <a:pPr marL="2014220">
              <a:lnSpc>
                <a:spcPct val="100000"/>
              </a:lnSpc>
              <a:spcBef>
                <a:spcPts val="125"/>
              </a:spcBef>
            </a:pPr>
            <a:r>
              <a:rPr sz="3500" dirty="0">
                <a:latin typeface="Times New Roman" panose="02020603050405020304" pitchFamily="18" charset="0"/>
                <a:cs typeface="Times New Roman" panose="02020603050405020304" pitchFamily="18" charset="0"/>
              </a:rPr>
              <a:t>2</a:t>
            </a:r>
            <a:r>
              <a:rPr lang="en-US" sz="3500" dirty="0">
                <a:latin typeface="Times New Roman" panose="02020603050405020304" pitchFamily="18" charset="0"/>
                <a:cs typeface="Times New Roman" panose="02020603050405020304" pitchFamily="18" charset="0"/>
              </a:rPr>
              <a:t>1. What is the average value of total amount </a:t>
            </a:r>
            <a:br>
              <a:rPr lang="en-US" sz="3500" dirty="0">
                <a:latin typeface="Times New Roman" panose="02020603050405020304" pitchFamily="18" charset="0"/>
                <a:cs typeface="Times New Roman" panose="02020603050405020304" pitchFamily="18" charset="0"/>
              </a:rPr>
            </a:br>
            <a:r>
              <a:rPr lang="en-US" sz="3500" dirty="0">
                <a:latin typeface="Times New Roman" panose="02020603050405020304" pitchFamily="18" charset="0"/>
                <a:cs typeface="Times New Roman" panose="02020603050405020304" pitchFamily="18" charset="0"/>
              </a:rPr>
              <a:t>after considering leave deductions?</a:t>
            </a:r>
            <a:endParaRPr sz="3500" spc="-10" dirty="0">
              <a:latin typeface="Times New Roman" panose="02020603050405020304" pitchFamily="18" charset="0"/>
              <a:cs typeface="Times New Roman" panose="02020603050405020304" pitchFamily="18" charset="0"/>
            </a:endParaRPr>
          </a:p>
        </p:txBody>
      </p:sp>
      <p:pic>
        <p:nvPicPr>
          <p:cNvPr id="9" name="object 9"/>
          <p:cNvPicPr/>
          <p:nvPr/>
        </p:nvPicPr>
        <p:blipFill>
          <a:blip r:embed="rId2" cstate="print"/>
          <a:stretch>
            <a:fillRect/>
          </a:stretch>
        </p:blipFill>
        <p:spPr>
          <a:xfrm>
            <a:off x="0" y="9525"/>
            <a:ext cx="4343399" cy="781050"/>
          </a:xfrm>
          <a:prstGeom prst="rect">
            <a:avLst/>
          </a:prstGeom>
        </p:spPr>
      </p:pic>
      <p:pic>
        <p:nvPicPr>
          <p:cNvPr id="10" name="Picture 9"/>
          <p:cNvPicPr>
            <a:picLocks noChangeAspect="1"/>
          </p:cNvPicPr>
          <p:nvPr/>
        </p:nvPicPr>
        <p:blipFill>
          <a:blip r:embed="rId3"/>
          <a:stretch>
            <a:fillRect/>
          </a:stretch>
        </p:blipFill>
        <p:spPr>
          <a:xfrm>
            <a:off x="3733799" y="3467100"/>
            <a:ext cx="9644517" cy="1371600"/>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798" y="6210300"/>
            <a:ext cx="6317673" cy="1371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695700"/>
            <a:ext cx="15530642" cy="1989482"/>
          </a:xfrm>
        </p:spPr>
        <p:txBody>
          <a:bodyPr>
            <a:normAutofit/>
          </a:bodyPr>
          <a:lstStyle/>
          <a:p>
            <a:r>
              <a:rPr lang="en-US" sz="8800" dirty="0">
                <a:latin typeface="Algerian" panose="04020705040A02060702" pitchFamily="82" charset="0"/>
              </a:rPr>
              <a:t>THANK YOU</a:t>
            </a:r>
          </a:p>
        </p:txBody>
      </p:sp>
    </p:spTree>
    <p:extLst>
      <p:ext uri="{BB962C8B-B14F-4D97-AF65-F5344CB8AC3E}">
        <p14:creationId xmlns:p14="http://schemas.microsoft.com/office/powerpoint/2010/main" val="25539946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107</TotalTime>
  <Words>586</Words>
  <Application>Microsoft Office PowerPoint</Application>
  <PresentationFormat>Custom</PresentationFormat>
  <Paragraphs>43</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Algerian</vt:lpstr>
      <vt:lpstr>Arial</vt:lpstr>
      <vt:lpstr>Bookman Old Style</vt:lpstr>
      <vt:lpstr>Calibri</vt:lpstr>
      <vt:lpstr>Rockwell</vt:lpstr>
      <vt:lpstr>Times New Roman</vt:lpstr>
      <vt:lpstr>Damask</vt:lpstr>
      <vt:lpstr>Employee management system</vt:lpstr>
      <vt:lpstr>Employee Management System</vt:lpstr>
      <vt:lpstr>Introduction</vt:lpstr>
      <vt:lpstr>Tables</vt:lpstr>
      <vt:lpstr>Tables</vt:lpstr>
      <vt:lpstr>ER Diagram</vt:lpstr>
      <vt:lpstr>Problem Statement</vt:lpstr>
      <vt:lpstr>1. How many unique employees are currently in the system?</vt:lpstr>
      <vt:lpstr>2. Which departments have the highest number of employees?</vt:lpstr>
      <vt:lpstr>3.What is the average salary per department?</vt:lpstr>
      <vt:lpstr>4. Who are the top 5 highest-paid employees?</vt:lpstr>
      <vt:lpstr>5. What is the total salary expenditure across the company?</vt:lpstr>
      <vt:lpstr>6. How many different job roles exist in each department??</vt:lpstr>
      <vt:lpstr>7. What is the average salary range per department??</vt:lpstr>
      <vt:lpstr>8. Which job roles offer the highest salary?</vt:lpstr>
      <vt:lpstr>9. Which departments have the highest total salary allocation?</vt:lpstr>
      <vt:lpstr>10. How many employees have at least one qualification listed?</vt:lpstr>
      <vt:lpstr>11. Which positions require the most qualifications?</vt:lpstr>
      <vt:lpstr>12. Which employees have the highest number of qualifications?</vt:lpstr>
      <vt:lpstr>13. Which year had the most employees taking leaves?</vt:lpstr>
      <vt:lpstr>14. What is the average number of leave days taken by its employees per department?</vt:lpstr>
      <vt:lpstr>15. Which employees have taken the most leaves?</vt:lpstr>
      <vt:lpstr>16.What is the total number of leave days taken company-wide?</vt:lpstr>
      <vt:lpstr>17. How do leave days correlate with payroll amounts?</vt:lpstr>
      <vt:lpstr>18. What is the total monthly payroll processed?</vt:lpstr>
      <vt:lpstr>19. What is the average bonus given per department?</vt:lpstr>
      <vt:lpstr>20. Which department receives the highest total bonuses?</vt:lpstr>
      <vt:lpstr>21. What is the average value of total amount  after considering leave deductions?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Grocery Store Management</dc:title>
  <dc:creator>Dell</dc:creator>
  <cp:lastModifiedBy>raghu9490977434@gmail.com</cp:lastModifiedBy>
  <cp:revision>13</cp:revision>
  <dcterms:created xsi:type="dcterms:W3CDTF">2025-09-30T10:19:08Z</dcterms:created>
  <dcterms:modified xsi:type="dcterms:W3CDTF">2025-09-30T16:33:51Z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2025-05-31T00:00:00Z</vt:filetime>
  </property>
  <property fmtid="{D5CDD505-2E9C-101B-9397-08002B2CF9AE}" pid="3" name="LastSaved">
    <vt:filetime>2025-09-30T00:00:00Z</vt:filetime>
  </property>
</Properties>
</file>